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259" r:id="rId4"/>
    <p:sldId id="261" r:id="rId5"/>
    <p:sldId id="263" r:id="rId6"/>
    <p:sldId id="262" r:id="rId7"/>
    <p:sldId id="271" r:id="rId8"/>
    <p:sldId id="280" r:id="rId9"/>
    <p:sldId id="265" r:id="rId10"/>
    <p:sldId id="272" r:id="rId11"/>
    <p:sldId id="273" r:id="rId12"/>
    <p:sldId id="274" r:id="rId13"/>
    <p:sldId id="275" r:id="rId14"/>
    <p:sldId id="276" r:id="rId15"/>
    <p:sldId id="277" r:id="rId16"/>
    <p:sldId id="281" r:id="rId17"/>
    <p:sldId id="266" r:id="rId18"/>
    <p:sldId id="270" r:id="rId19"/>
    <p:sldId id="27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4660"/>
  </p:normalViewPr>
  <p:slideViewPr>
    <p:cSldViewPr snapToGrid="0" snapToObjects="1">
      <p:cViewPr varScale="1">
        <p:scale>
          <a:sx n="90" d="100"/>
          <a:sy n="90" d="100"/>
        </p:scale>
        <p:origin x="123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D:\Assignments\Ms%20Excel%20Folder\Excel%20Projects\customer%20churn\Churn_Modelling.xlsm"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Assignments\Ms%20Excel%20Folder\Excel%20Projects\customer%20churn\Churn_Modelling.xlsm"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Assignments\Ms%20Excel%20Folder\Excel%20Projects\customer%20churn\Churn_Modelling.xlsm"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Assignments\Ms%20Excel%20Folder\Excel%20Projects\customer%20churn\Churn_Modelling.xlsm"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Assignments\Ms%20Excel%20Folder\Excel%20Projects\customer%20churn\Churn_Modelling.xlsm"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Assignments\Ms%20Excel%20Folder\Excel%20Projects\customer%20churn\Churn_Modelling.xlsm"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Assignments\Ms%20Excel%20Folder\Excel%20Projects\customer%20churn\Churn_Modelling.xlsm"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Falguni\AppData\Roaming\Microsoft\Excel\Churn_Modelling%20(version%201).xlsb"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[Churn_Modelling.xlsm]churned vs retained!PivotTable3</c:name>
    <c:fmtId val="12"/>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Customers Churned Vs Retained</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'churned vs retained'!$D$4:$D$5</c:f>
              <c:strCache>
                <c:ptCount val="1"/>
                <c:pt idx="0">
                  <c:v>France</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'churned vs retained'!$C$6:$C$8</c:f>
              <c:strCache>
                <c:ptCount val="2"/>
                <c:pt idx="0">
                  <c:v>churned</c:v>
                </c:pt>
                <c:pt idx="1">
                  <c:v>retained</c:v>
                </c:pt>
              </c:strCache>
            </c:strRef>
          </c:cat>
          <c:val>
            <c:numRef>
              <c:f>'churned vs retained'!$D$6:$D$8</c:f>
              <c:numCache>
                <c:formatCode>General</c:formatCode>
                <c:ptCount val="2"/>
                <c:pt idx="0">
                  <c:v>810</c:v>
                </c:pt>
                <c:pt idx="1">
                  <c:v>4203</c:v>
                </c:pt>
              </c:numCache>
            </c:numRef>
          </c:val>
          <c:extLst>
            <c:ext xmlns:c16="http://schemas.microsoft.com/office/drawing/2014/chart" uri="{C3380CC4-5D6E-409C-BE32-E72D297353CC}">
              <c16:uniqueId val="{00000000-43F4-4132-83B6-B3E755C7A470}"/>
            </c:ext>
          </c:extLst>
        </c:ser>
        <c:ser>
          <c:idx val="1"/>
          <c:order val="1"/>
          <c:tx>
            <c:strRef>
              <c:f>'churned vs retained'!$E$4:$E$5</c:f>
              <c:strCache>
                <c:ptCount val="1"/>
                <c:pt idx="0">
                  <c:v>Germany</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'churned vs retained'!$C$6:$C$8</c:f>
              <c:strCache>
                <c:ptCount val="2"/>
                <c:pt idx="0">
                  <c:v>churned</c:v>
                </c:pt>
                <c:pt idx="1">
                  <c:v>retained</c:v>
                </c:pt>
              </c:strCache>
            </c:strRef>
          </c:cat>
          <c:val>
            <c:numRef>
              <c:f>'churned vs retained'!$E$6:$E$8</c:f>
              <c:numCache>
                <c:formatCode>General</c:formatCode>
                <c:ptCount val="2"/>
                <c:pt idx="0">
                  <c:v>814</c:v>
                </c:pt>
                <c:pt idx="1">
                  <c:v>1696</c:v>
                </c:pt>
              </c:numCache>
            </c:numRef>
          </c:val>
          <c:extLst>
            <c:ext xmlns:c16="http://schemas.microsoft.com/office/drawing/2014/chart" uri="{C3380CC4-5D6E-409C-BE32-E72D297353CC}">
              <c16:uniqueId val="{00000001-43F4-4132-83B6-B3E755C7A470}"/>
            </c:ext>
          </c:extLst>
        </c:ser>
        <c:ser>
          <c:idx val="2"/>
          <c:order val="2"/>
          <c:tx>
            <c:strRef>
              <c:f>'churned vs retained'!$F$4:$F$5</c:f>
              <c:strCache>
                <c:ptCount val="1"/>
                <c:pt idx="0">
                  <c:v>Spain</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'churned vs retained'!$C$6:$C$8</c:f>
              <c:strCache>
                <c:ptCount val="2"/>
                <c:pt idx="0">
                  <c:v>churned</c:v>
                </c:pt>
                <c:pt idx="1">
                  <c:v>retained</c:v>
                </c:pt>
              </c:strCache>
            </c:strRef>
          </c:cat>
          <c:val>
            <c:numRef>
              <c:f>'churned vs retained'!$F$6:$F$8</c:f>
              <c:numCache>
                <c:formatCode>General</c:formatCode>
                <c:ptCount val="2"/>
                <c:pt idx="0">
                  <c:v>413</c:v>
                </c:pt>
                <c:pt idx="1">
                  <c:v>2064</c:v>
                </c:pt>
              </c:numCache>
            </c:numRef>
          </c:val>
          <c:extLst>
            <c:ext xmlns:c16="http://schemas.microsoft.com/office/drawing/2014/chart" uri="{C3380CC4-5D6E-409C-BE32-E72D297353CC}">
              <c16:uniqueId val="{00000002-43F4-4132-83B6-B3E755C7A470}"/>
            </c:ext>
          </c:extLst>
        </c:ser>
        <c:dLbls>
          <c:showLegendKey val="0"/>
          <c:showVal val="0"/>
          <c:showCatName val="0"/>
          <c:showSerName val="0"/>
          <c:showPercent val="0"/>
          <c:showBubbleSize val="0"/>
        </c:dLbls>
        <c:gapWidth val="100"/>
        <c:overlap val="-24"/>
        <c:axId val="968897344"/>
        <c:axId val="968897824"/>
      </c:barChart>
      <c:catAx>
        <c:axId val="96889734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968897824"/>
        <c:crosses val="autoZero"/>
        <c:auto val="1"/>
        <c:lblAlgn val="ctr"/>
        <c:lblOffset val="100"/>
        <c:noMultiLvlLbl val="0"/>
      </c:catAx>
      <c:valAx>
        <c:axId val="968897824"/>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9688973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[Churn_Modelling.xlsm]Tenure vs. Churn!PivotTable1</c:name>
    <c:fmtId val="17"/>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Tenure Vs Customer Churn</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34925" cap="rnd">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34925" cap="rnd">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5">
                  <a:tint val="98000"/>
                  <a:hueMod val="94000"/>
                  <a:satMod val="130000"/>
                  <a:lumMod val="138000"/>
                </a:schemeClr>
              </a:gs>
              <a:gs pos="100000">
                <a:schemeClr val="accent5">
                  <a:shade val="94000"/>
                  <a:lumMod val="88000"/>
                </a:schemeClr>
              </a:gs>
            </a:gsLst>
            <a:lin ang="5400000" scaled="0"/>
          </a:gradFill>
          <a:ln w="34925" cap="rnd">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'Tenure vs. Churn'!$D$5</c:f>
              <c:strCache>
                <c:ptCount val="1"/>
                <c:pt idx="0">
                  <c:v>Total</c:v>
                </c:pt>
              </c:strCache>
            </c:strRef>
          </c:tx>
          <c:spPr>
            <a:ln w="34925" cap="rnd">
              <a:solidFill>
                <a:schemeClr val="accent5"/>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trendline>
            <c:spPr>
              <a:ln w="19050" cap="rnd">
                <a:solidFill>
                  <a:schemeClr val="accent5"/>
                </a:solidFill>
              </a:ln>
              <a:effectLst/>
            </c:spPr>
            <c:trendlineType val="linear"/>
            <c:dispRSqr val="0"/>
            <c:dispEq val="0"/>
          </c:trendline>
          <c:cat>
            <c:strRef>
              <c:f>'Tenure vs. Churn'!$C$6:$C$17</c:f>
              <c:strCache>
                <c:ptCount val="11"/>
                <c:pt idx="0">
                  <c:v>0</c:v>
                </c:pt>
                <c:pt idx="1">
                  <c:v>1</c:v>
                </c:pt>
                <c:pt idx="2">
                  <c:v>2</c:v>
                </c:pt>
                <c:pt idx="3">
                  <c:v>3</c:v>
                </c:pt>
                <c:pt idx="4">
                  <c:v>4</c:v>
                </c:pt>
                <c:pt idx="5">
                  <c:v>5</c:v>
                </c:pt>
                <c:pt idx="6">
                  <c:v>6</c:v>
                </c:pt>
                <c:pt idx="7">
                  <c:v>7</c:v>
                </c:pt>
                <c:pt idx="8">
                  <c:v>8</c:v>
                </c:pt>
                <c:pt idx="9">
                  <c:v>9</c:v>
                </c:pt>
                <c:pt idx="10">
                  <c:v>10</c:v>
                </c:pt>
              </c:strCache>
            </c:strRef>
          </c:cat>
          <c:val>
            <c:numRef>
              <c:f>'Tenure vs. Churn'!$D$6:$D$17</c:f>
              <c:numCache>
                <c:formatCode>General</c:formatCode>
                <c:ptCount val="11"/>
                <c:pt idx="0">
                  <c:v>95</c:v>
                </c:pt>
                <c:pt idx="1">
                  <c:v>232</c:v>
                </c:pt>
                <c:pt idx="2">
                  <c:v>201</c:v>
                </c:pt>
                <c:pt idx="3">
                  <c:v>213</c:v>
                </c:pt>
                <c:pt idx="4">
                  <c:v>203</c:v>
                </c:pt>
                <c:pt idx="5">
                  <c:v>209</c:v>
                </c:pt>
                <c:pt idx="6">
                  <c:v>196</c:v>
                </c:pt>
                <c:pt idx="7">
                  <c:v>177</c:v>
                </c:pt>
                <c:pt idx="8">
                  <c:v>197</c:v>
                </c:pt>
                <c:pt idx="9">
                  <c:v>213</c:v>
                </c:pt>
                <c:pt idx="10">
                  <c:v>101</c:v>
                </c:pt>
              </c:numCache>
            </c:numRef>
          </c:val>
          <c:smooth val="0"/>
          <c:extLst>
            <c:ext xmlns:c16="http://schemas.microsoft.com/office/drawing/2014/chart" uri="{C3380CC4-5D6E-409C-BE32-E72D297353CC}">
              <c16:uniqueId val="{00000000-A913-4E62-86E2-4980956A1F49}"/>
            </c:ext>
          </c:extLst>
        </c:ser>
        <c:dLbls>
          <c:dLblPos val="t"/>
          <c:showLegendKey val="0"/>
          <c:showVal val="1"/>
          <c:showCatName val="0"/>
          <c:showSerName val="0"/>
          <c:showPercent val="0"/>
          <c:showBubbleSize val="0"/>
        </c:dLbls>
        <c:upDownBars>
          <c:gapWidth val="150"/>
          <c:upBars>
            <c:spPr>
              <a:solidFill>
                <a:schemeClr val="lt1"/>
              </a:solidFill>
              <a:ln w="9525">
                <a:solidFill>
                  <a:schemeClr val="lt1">
                    <a:lumMod val="95000"/>
                    <a:alpha val="54000"/>
                  </a:schemeClr>
                </a:solidFill>
              </a:ln>
              <a:effectLst/>
            </c:spPr>
          </c:upBars>
          <c:downBars>
            <c:spPr>
              <a:solidFill>
                <a:schemeClr val="dk1">
                  <a:lumMod val="75000"/>
                  <a:lumOff val="25000"/>
                </a:schemeClr>
              </a:solidFill>
              <a:ln w="9525">
                <a:solidFill>
                  <a:schemeClr val="lt1">
                    <a:lumMod val="95000"/>
                    <a:alpha val="54000"/>
                  </a:schemeClr>
                </a:solidFill>
              </a:ln>
              <a:effectLst/>
            </c:spPr>
          </c:downBars>
        </c:upDownBars>
        <c:marker val="1"/>
        <c:smooth val="0"/>
        <c:axId val="1465587616"/>
        <c:axId val="1465584256"/>
      </c:lineChart>
      <c:catAx>
        <c:axId val="146558761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65584256"/>
        <c:crosses val="autoZero"/>
        <c:auto val="1"/>
        <c:lblAlgn val="ctr"/>
        <c:lblOffset val="100"/>
        <c:noMultiLvlLbl val="0"/>
      </c:catAx>
      <c:valAx>
        <c:axId val="1465584256"/>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655876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[Churn_Modelling.xlsm] Churn by Geography!PivotTable3</c:name>
    <c:fmtId val="8"/>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600" b="0" i="0" u="none" strike="noStrike" baseline="0">
                <a:solidFill>
                  <a:sysClr val="window" lastClr="FFFFFF">
                    <a:lumMod val="95000"/>
                  </a:sysClr>
                </a:solidFill>
                <a:latin typeface="Aptos Narrow" panose="02110004020202020204"/>
              </a:rPr>
              <a:t>Customer churn analysis countrywise</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 Churn by Geography'!$B$4:$B$5</c:f>
              <c:strCache>
                <c:ptCount val="1"/>
                <c:pt idx="0">
                  <c:v>18-28</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 Churn by Geography'!$A$6:$A$9</c:f>
              <c:strCache>
                <c:ptCount val="3"/>
                <c:pt idx="0">
                  <c:v>France</c:v>
                </c:pt>
                <c:pt idx="1">
                  <c:v>Germany</c:v>
                </c:pt>
                <c:pt idx="2">
                  <c:v>Spain</c:v>
                </c:pt>
              </c:strCache>
            </c:strRef>
          </c:cat>
          <c:val>
            <c:numRef>
              <c:f>' Churn by Geography'!$B$6:$B$9</c:f>
              <c:numCache>
                <c:formatCode>General</c:formatCode>
                <c:ptCount val="3"/>
                <c:pt idx="0">
                  <c:v>29</c:v>
                </c:pt>
                <c:pt idx="1">
                  <c:v>24</c:v>
                </c:pt>
                <c:pt idx="2">
                  <c:v>20</c:v>
                </c:pt>
              </c:numCache>
            </c:numRef>
          </c:val>
          <c:extLst>
            <c:ext xmlns:c16="http://schemas.microsoft.com/office/drawing/2014/chart" uri="{C3380CC4-5D6E-409C-BE32-E72D297353CC}">
              <c16:uniqueId val="{00000000-C10A-4525-89BD-A953C3A9EED9}"/>
            </c:ext>
          </c:extLst>
        </c:ser>
        <c:ser>
          <c:idx val="1"/>
          <c:order val="1"/>
          <c:tx>
            <c:strRef>
              <c:f>' Churn by Geography'!$C$4:$C$5</c:f>
              <c:strCache>
                <c:ptCount val="1"/>
                <c:pt idx="0">
                  <c:v>28-38</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 Churn by Geography'!$A$6:$A$9</c:f>
              <c:strCache>
                <c:ptCount val="3"/>
                <c:pt idx="0">
                  <c:v>France</c:v>
                </c:pt>
                <c:pt idx="1">
                  <c:v>Germany</c:v>
                </c:pt>
                <c:pt idx="2">
                  <c:v>Spain</c:v>
                </c:pt>
              </c:strCache>
            </c:strRef>
          </c:cat>
          <c:val>
            <c:numRef>
              <c:f>' Churn by Geography'!$C$6:$C$9</c:f>
              <c:numCache>
                <c:formatCode>General</c:formatCode>
                <c:ptCount val="3"/>
                <c:pt idx="0">
                  <c:v>148</c:v>
                </c:pt>
                <c:pt idx="1">
                  <c:v>157</c:v>
                </c:pt>
                <c:pt idx="2">
                  <c:v>84</c:v>
                </c:pt>
              </c:numCache>
            </c:numRef>
          </c:val>
          <c:extLst>
            <c:ext xmlns:c16="http://schemas.microsoft.com/office/drawing/2014/chart" uri="{C3380CC4-5D6E-409C-BE32-E72D297353CC}">
              <c16:uniqueId val="{00000001-C10A-4525-89BD-A953C3A9EED9}"/>
            </c:ext>
          </c:extLst>
        </c:ser>
        <c:ser>
          <c:idx val="2"/>
          <c:order val="2"/>
          <c:tx>
            <c:strRef>
              <c:f>' Churn by Geography'!$D$4:$D$5</c:f>
              <c:strCache>
                <c:ptCount val="1"/>
                <c:pt idx="0">
                  <c:v>38-48</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 Churn by Geography'!$A$6:$A$9</c:f>
              <c:strCache>
                <c:ptCount val="3"/>
                <c:pt idx="0">
                  <c:v>France</c:v>
                </c:pt>
                <c:pt idx="1">
                  <c:v>Germany</c:v>
                </c:pt>
                <c:pt idx="2">
                  <c:v>Spain</c:v>
                </c:pt>
              </c:strCache>
            </c:strRef>
          </c:cat>
          <c:val>
            <c:numRef>
              <c:f>' Churn by Geography'!$D$6:$D$9</c:f>
              <c:numCache>
                <c:formatCode>General</c:formatCode>
                <c:ptCount val="3"/>
                <c:pt idx="0">
                  <c:v>308</c:v>
                </c:pt>
                <c:pt idx="1">
                  <c:v>319</c:v>
                </c:pt>
                <c:pt idx="2">
                  <c:v>159</c:v>
                </c:pt>
              </c:numCache>
            </c:numRef>
          </c:val>
          <c:extLst>
            <c:ext xmlns:c16="http://schemas.microsoft.com/office/drawing/2014/chart" uri="{C3380CC4-5D6E-409C-BE32-E72D297353CC}">
              <c16:uniqueId val="{00000002-C10A-4525-89BD-A953C3A9EED9}"/>
            </c:ext>
          </c:extLst>
        </c:ser>
        <c:ser>
          <c:idx val="3"/>
          <c:order val="3"/>
          <c:tx>
            <c:strRef>
              <c:f>' Churn by Geography'!$E$4:$E$5</c:f>
              <c:strCache>
                <c:ptCount val="1"/>
                <c:pt idx="0">
                  <c:v>48-58</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 Churn by Geography'!$A$6:$A$9</c:f>
              <c:strCache>
                <c:ptCount val="3"/>
                <c:pt idx="0">
                  <c:v>France</c:v>
                </c:pt>
                <c:pt idx="1">
                  <c:v>Germany</c:v>
                </c:pt>
                <c:pt idx="2">
                  <c:v>Spain</c:v>
                </c:pt>
              </c:strCache>
            </c:strRef>
          </c:cat>
          <c:val>
            <c:numRef>
              <c:f>' Churn by Geography'!$E$6:$E$9</c:f>
              <c:numCache>
                <c:formatCode>General</c:formatCode>
                <c:ptCount val="3"/>
                <c:pt idx="0">
                  <c:v>233</c:v>
                </c:pt>
                <c:pt idx="1">
                  <c:v>233</c:v>
                </c:pt>
                <c:pt idx="2">
                  <c:v>117</c:v>
                </c:pt>
              </c:numCache>
            </c:numRef>
          </c:val>
          <c:extLst>
            <c:ext xmlns:c16="http://schemas.microsoft.com/office/drawing/2014/chart" uri="{C3380CC4-5D6E-409C-BE32-E72D297353CC}">
              <c16:uniqueId val="{00000003-C10A-4525-89BD-A953C3A9EED9}"/>
            </c:ext>
          </c:extLst>
        </c:ser>
        <c:ser>
          <c:idx val="4"/>
          <c:order val="4"/>
          <c:tx>
            <c:strRef>
              <c:f>' Churn by Geography'!$F$4:$F$5</c:f>
              <c:strCache>
                <c:ptCount val="1"/>
                <c:pt idx="0">
                  <c:v>58-68</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 Churn by Geography'!$A$6:$A$9</c:f>
              <c:strCache>
                <c:ptCount val="3"/>
                <c:pt idx="0">
                  <c:v>France</c:v>
                </c:pt>
                <c:pt idx="1">
                  <c:v>Germany</c:v>
                </c:pt>
                <c:pt idx="2">
                  <c:v>Spain</c:v>
                </c:pt>
              </c:strCache>
            </c:strRef>
          </c:cat>
          <c:val>
            <c:numRef>
              <c:f>' Churn by Geography'!$F$6:$F$9</c:f>
              <c:numCache>
                <c:formatCode>General</c:formatCode>
                <c:ptCount val="3"/>
                <c:pt idx="0">
                  <c:v>84</c:v>
                </c:pt>
                <c:pt idx="1">
                  <c:v>71</c:v>
                </c:pt>
                <c:pt idx="2">
                  <c:v>28</c:v>
                </c:pt>
              </c:numCache>
            </c:numRef>
          </c:val>
          <c:extLst>
            <c:ext xmlns:c16="http://schemas.microsoft.com/office/drawing/2014/chart" uri="{C3380CC4-5D6E-409C-BE32-E72D297353CC}">
              <c16:uniqueId val="{00000004-C10A-4525-89BD-A953C3A9EED9}"/>
            </c:ext>
          </c:extLst>
        </c:ser>
        <c:ser>
          <c:idx val="5"/>
          <c:order val="5"/>
          <c:tx>
            <c:strRef>
              <c:f>' Churn by Geography'!$G$4:$G$5</c:f>
              <c:strCache>
                <c:ptCount val="1"/>
                <c:pt idx="0">
                  <c:v>68-78</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 Churn by Geography'!$A$6:$A$9</c:f>
              <c:strCache>
                <c:ptCount val="3"/>
                <c:pt idx="0">
                  <c:v>France</c:v>
                </c:pt>
                <c:pt idx="1">
                  <c:v>Germany</c:v>
                </c:pt>
                <c:pt idx="2">
                  <c:v>Spain</c:v>
                </c:pt>
              </c:strCache>
            </c:strRef>
          </c:cat>
          <c:val>
            <c:numRef>
              <c:f>' Churn by Geography'!$G$6:$G$9</c:f>
              <c:numCache>
                <c:formatCode>General</c:formatCode>
                <c:ptCount val="3"/>
                <c:pt idx="0">
                  <c:v>7</c:v>
                </c:pt>
                <c:pt idx="1">
                  <c:v>10</c:v>
                </c:pt>
                <c:pt idx="2">
                  <c:v>5</c:v>
                </c:pt>
              </c:numCache>
            </c:numRef>
          </c:val>
          <c:extLst>
            <c:ext xmlns:c16="http://schemas.microsoft.com/office/drawing/2014/chart" uri="{C3380CC4-5D6E-409C-BE32-E72D297353CC}">
              <c16:uniqueId val="{00000005-C10A-4525-89BD-A953C3A9EED9}"/>
            </c:ext>
          </c:extLst>
        </c:ser>
        <c:ser>
          <c:idx val="6"/>
          <c:order val="6"/>
          <c:tx>
            <c:strRef>
              <c:f>' Churn by Geography'!$H$4:$H$5</c:f>
              <c:strCache>
                <c:ptCount val="1"/>
                <c:pt idx="0">
                  <c:v>78-88</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 Churn by Geography'!$A$6:$A$9</c:f>
              <c:strCache>
                <c:ptCount val="3"/>
                <c:pt idx="0">
                  <c:v>France</c:v>
                </c:pt>
                <c:pt idx="1">
                  <c:v>Germany</c:v>
                </c:pt>
                <c:pt idx="2">
                  <c:v>Spain</c:v>
                </c:pt>
              </c:strCache>
            </c:strRef>
          </c:cat>
          <c:val>
            <c:numRef>
              <c:f>' Churn by Geography'!$H$6:$H$9</c:f>
              <c:numCache>
                <c:formatCode>General</c:formatCode>
                <c:ptCount val="3"/>
                <c:pt idx="0">
                  <c:v>1</c:v>
                </c:pt>
                <c:pt idx="1">
                  <c:v>0</c:v>
                </c:pt>
                <c:pt idx="2">
                  <c:v>0</c:v>
                </c:pt>
              </c:numCache>
            </c:numRef>
          </c:val>
          <c:extLst>
            <c:ext xmlns:c16="http://schemas.microsoft.com/office/drawing/2014/chart" uri="{C3380CC4-5D6E-409C-BE32-E72D297353CC}">
              <c16:uniqueId val="{00000006-C10A-4525-89BD-A953C3A9EED9}"/>
            </c:ext>
          </c:extLst>
        </c:ser>
        <c:ser>
          <c:idx val="7"/>
          <c:order val="7"/>
          <c:tx>
            <c:strRef>
              <c:f>' Churn by Geography'!$I$4:$I$5</c:f>
              <c:strCache>
                <c:ptCount val="1"/>
                <c:pt idx="0">
                  <c:v>88-98</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 Churn by Geography'!$A$6:$A$9</c:f>
              <c:strCache>
                <c:ptCount val="3"/>
                <c:pt idx="0">
                  <c:v>France</c:v>
                </c:pt>
                <c:pt idx="1">
                  <c:v>Germany</c:v>
                </c:pt>
                <c:pt idx="2">
                  <c:v>Spain</c:v>
                </c:pt>
              </c:strCache>
            </c:strRef>
          </c:cat>
          <c:val>
            <c:numRef>
              <c:f>' Churn by Geography'!$I$6:$I$9</c:f>
              <c:numCache>
                <c:formatCode>General</c:formatCode>
                <c:ptCount val="3"/>
                <c:pt idx="0">
                  <c:v>0</c:v>
                </c:pt>
                <c:pt idx="2">
                  <c:v>0</c:v>
                </c:pt>
              </c:numCache>
            </c:numRef>
          </c:val>
          <c:extLst>
            <c:ext xmlns:c16="http://schemas.microsoft.com/office/drawing/2014/chart" uri="{C3380CC4-5D6E-409C-BE32-E72D297353CC}">
              <c16:uniqueId val="{00000007-C10A-4525-89BD-A953C3A9EED9}"/>
            </c:ext>
          </c:extLst>
        </c:ser>
        <c:dLbls>
          <c:showLegendKey val="0"/>
          <c:showVal val="0"/>
          <c:showCatName val="0"/>
          <c:showSerName val="0"/>
          <c:showPercent val="0"/>
          <c:showBubbleSize val="0"/>
        </c:dLbls>
        <c:gapWidth val="100"/>
        <c:overlap val="-24"/>
        <c:axId val="442447311"/>
        <c:axId val="442443951"/>
      </c:barChart>
      <c:catAx>
        <c:axId val="442447311"/>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42443951"/>
        <c:crosses val="autoZero"/>
        <c:auto val="1"/>
        <c:lblAlgn val="ctr"/>
        <c:lblOffset val="100"/>
        <c:noMultiLvlLbl val="0"/>
      </c:catAx>
      <c:valAx>
        <c:axId val="442443951"/>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4244731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[Churn_Modelling.xlsm]Churn by Gender!PivotTable2</c:name>
    <c:fmtId val="8"/>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Gender Vs Customer Churn Analysis(Active membership</a:t>
            </a:r>
            <a:r>
              <a:rPr lang="en-IN" baseline="0"/>
              <a:t> w</a:t>
            </a:r>
            <a:r>
              <a:rPr lang="en-IN"/>
              <a:t>ise)</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'Churn by Gender'!$D$3:$D$4</c:f>
              <c:strCache>
                <c:ptCount val="1"/>
                <c:pt idx="0">
                  <c:v>0</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'Churn by Gender'!$C$5:$C$7</c:f>
              <c:strCache>
                <c:ptCount val="2"/>
                <c:pt idx="0">
                  <c:v>Female</c:v>
                </c:pt>
                <c:pt idx="1">
                  <c:v>Male</c:v>
                </c:pt>
              </c:strCache>
            </c:strRef>
          </c:cat>
          <c:val>
            <c:numRef>
              <c:f>'Churn by Gender'!$D$5:$D$7</c:f>
              <c:numCache>
                <c:formatCode>General</c:formatCode>
                <c:ptCount val="2"/>
                <c:pt idx="0">
                  <c:v>725</c:v>
                </c:pt>
                <c:pt idx="1">
                  <c:v>577</c:v>
                </c:pt>
              </c:numCache>
            </c:numRef>
          </c:val>
          <c:extLst>
            <c:ext xmlns:c16="http://schemas.microsoft.com/office/drawing/2014/chart" uri="{C3380CC4-5D6E-409C-BE32-E72D297353CC}">
              <c16:uniqueId val="{00000000-CEFF-4844-B07F-D6B55F7CB101}"/>
            </c:ext>
          </c:extLst>
        </c:ser>
        <c:ser>
          <c:idx val="1"/>
          <c:order val="1"/>
          <c:tx>
            <c:strRef>
              <c:f>'Churn by Gender'!$E$3:$E$4</c:f>
              <c:strCache>
                <c:ptCount val="1"/>
                <c:pt idx="0">
                  <c:v>1</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'Churn by Gender'!$C$5:$C$7</c:f>
              <c:strCache>
                <c:ptCount val="2"/>
                <c:pt idx="0">
                  <c:v>Female</c:v>
                </c:pt>
                <c:pt idx="1">
                  <c:v>Male</c:v>
                </c:pt>
              </c:strCache>
            </c:strRef>
          </c:cat>
          <c:val>
            <c:numRef>
              <c:f>'Churn by Gender'!$E$5:$E$7</c:f>
              <c:numCache>
                <c:formatCode>General</c:formatCode>
                <c:ptCount val="2"/>
                <c:pt idx="0">
                  <c:v>414</c:v>
                </c:pt>
                <c:pt idx="1">
                  <c:v>321</c:v>
                </c:pt>
              </c:numCache>
            </c:numRef>
          </c:val>
          <c:extLst>
            <c:ext xmlns:c16="http://schemas.microsoft.com/office/drawing/2014/chart" uri="{C3380CC4-5D6E-409C-BE32-E72D297353CC}">
              <c16:uniqueId val="{00000001-CEFF-4844-B07F-D6B55F7CB101}"/>
            </c:ext>
          </c:extLst>
        </c:ser>
        <c:dLbls>
          <c:showLegendKey val="0"/>
          <c:showVal val="0"/>
          <c:showCatName val="0"/>
          <c:showSerName val="0"/>
          <c:showPercent val="0"/>
          <c:showBubbleSize val="0"/>
        </c:dLbls>
        <c:gapWidth val="100"/>
        <c:overlap val="-24"/>
        <c:axId val="1465553056"/>
        <c:axId val="1465561216"/>
      </c:barChart>
      <c:catAx>
        <c:axId val="146555305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65561216"/>
        <c:crosses val="autoZero"/>
        <c:auto val="1"/>
        <c:lblAlgn val="ctr"/>
        <c:lblOffset val="100"/>
        <c:noMultiLvlLbl val="0"/>
      </c:catAx>
      <c:valAx>
        <c:axId val="1465561216"/>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655530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[Churn_Modelling.xlsm]Age Distribution of Churned Cus!PivotTable6</c:name>
    <c:fmtId val="18"/>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Agewise Customer Churn Analysis</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'Age Distribution of Churned Cus'!$D$4:$D$5</c:f>
              <c:strCache>
                <c:ptCount val="1"/>
                <c:pt idx="0">
                  <c:v>France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'Age Distribution of Churned Cus'!$C$6:$C$21</c:f>
              <c:strCache>
                <c:ptCount val="15"/>
                <c:pt idx="0">
                  <c:v>18-23</c:v>
                </c:pt>
                <c:pt idx="1">
                  <c:v>23-28</c:v>
                </c:pt>
                <c:pt idx="2">
                  <c:v>28-33</c:v>
                </c:pt>
                <c:pt idx="3">
                  <c:v>33-38</c:v>
                </c:pt>
                <c:pt idx="4">
                  <c:v>38-43</c:v>
                </c:pt>
                <c:pt idx="5">
                  <c:v>43-48</c:v>
                </c:pt>
                <c:pt idx="6">
                  <c:v>48-53</c:v>
                </c:pt>
                <c:pt idx="7">
                  <c:v>53-58</c:v>
                </c:pt>
                <c:pt idx="8">
                  <c:v>58-63</c:v>
                </c:pt>
                <c:pt idx="9">
                  <c:v>63-68</c:v>
                </c:pt>
                <c:pt idx="10">
                  <c:v>68-73</c:v>
                </c:pt>
                <c:pt idx="11">
                  <c:v>73-78</c:v>
                </c:pt>
                <c:pt idx="12">
                  <c:v>78-83</c:v>
                </c:pt>
                <c:pt idx="13">
                  <c:v>83-88</c:v>
                </c:pt>
                <c:pt idx="14">
                  <c:v>88-93</c:v>
                </c:pt>
              </c:strCache>
            </c:strRef>
          </c:cat>
          <c:val>
            <c:numRef>
              <c:f>'Age Distribution of Churned Cus'!$D$6:$D$21</c:f>
              <c:numCache>
                <c:formatCode>General</c:formatCode>
                <c:ptCount val="15"/>
                <c:pt idx="0">
                  <c:v>8</c:v>
                </c:pt>
                <c:pt idx="1">
                  <c:v>21</c:v>
                </c:pt>
                <c:pt idx="2">
                  <c:v>49</c:v>
                </c:pt>
                <c:pt idx="3">
                  <c:v>99</c:v>
                </c:pt>
                <c:pt idx="4">
                  <c:v>155</c:v>
                </c:pt>
                <c:pt idx="5">
                  <c:v>153</c:v>
                </c:pt>
                <c:pt idx="6">
                  <c:v>144</c:v>
                </c:pt>
                <c:pt idx="7">
                  <c:v>89</c:v>
                </c:pt>
                <c:pt idx="8">
                  <c:v>65</c:v>
                </c:pt>
                <c:pt idx="9">
                  <c:v>19</c:v>
                </c:pt>
                <c:pt idx="10">
                  <c:v>6</c:v>
                </c:pt>
                <c:pt idx="11">
                  <c:v>1</c:v>
                </c:pt>
                <c:pt idx="12">
                  <c:v>0</c:v>
                </c:pt>
                <c:pt idx="13">
                  <c:v>1</c:v>
                </c:pt>
                <c:pt idx="14">
                  <c:v>0</c:v>
                </c:pt>
              </c:numCache>
            </c:numRef>
          </c:val>
          <c:extLst>
            <c:ext xmlns:c16="http://schemas.microsoft.com/office/drawing/2014/chart" uri="{C3380CC4-5D6E-409C-BE32-E72D297353CC}">
              <c16:uniqueId val="{00000000-F4A0-418A-A66C-A96E20593B74}"/>
            </c:ext>
          </c:extLst>
        </c:ser>
        <c:ser>
          <c:idx val="1"/>
          <c:order val="1"/>
          <c:tx>
            <c:strRef>
              <c:f>'Age Distribution of Churned Cus'!$E$4:$E$5</c:f>
              <c:strCache>
                <c:ptCount val="1"/>
                <c:pt idx="0">
                  <c:v>Germany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'Age Distribution of Churned Cus'!$C$6:$C$21</c:f>
              <c:strCache>
                <c:ptCount val="15"/>
                <c:pt idx="0">
                  <c:v>18-23</c:v>
                </c:pt>
                <c:pt idx="1">
                  <c:v>23-28</c:v>
                </c:pt>
                <c:pt idx="2">
                  <c:v>28-33</c:v>
                </c:pt>
                <c:pt idx="3">
                  <c:v>33-38</c:v>
                </c:pt>
                <c:pt idx="4">
                  <c:v>38-43</c:v>
                </c:pt>
                <c:pt idx="5">
                  <c:v>43-48</c:v>
                </c:pt>
                <c:pt idx="6">
                  <c:v>48-53</c:v>
                </c:pt>
                <c:pt idx="7">
                  <c:v>53-58</c:v>
                </c:pt>
                <c:pt idx="8">
                  <c:v>58-63</c:v>
                </c:pt>
                <c:pt idx="9">
                  <c:v>63-68</c:v>
                </c:pt>
                <c:pt idx="10">
                  <c:v>68-73</c:v>
                </c:pt>
                <c:pt idx="11">
                  <c:v>73-78</c:v>
                </c:pt>
                <c:pt idx="12">
                  <c:v>78-83</c:v>
                </c:pt>
                <c:pt idx="13">
                  <c:v>83-88</c:v>
                </c:pt>
                <c:pt idx="14">
                  <c:v>88-93</c:v>
                </c:pt>
              </c:strCache>
            </c:strRef>
          </c:cat>
          <c:val>
            <c:numRef>
              <c:f>'Age Distribution of Churned Cus'!$E$6:$E$21</c:f>
              <c:numCache>
                <c:formatCode>General</c:formatCode>
                <c:ptCount val="15"/>
                <c:pt idx="0">
                  <c:v>6</c:v>
                </c:pt>
                <c:pt idx="1">
                  <c:v>18</c:v>
                </c:pt>
                <c:pt idx="2">
                  <c:v>54</c:v>
                </c:pt>
                <c:pt idx="3">
                  <c:v>103</c:v>
                </c:pt>
                <c:pt idx="4">
                  <c:v>141</c:v>
                </c:pt>
                <c:pt idx="5">
                  <c:v>178</c:v>
                </c:pt>
                <c:pt idx="6">
                  <c:v>148</c:v>
                </c:pt>
                <c:pt idx="7">
                  <c:v>85</c:v>
                </c:pt>
                <c:pt idx="8">
                  <c:v>52</c:v>
                </c:pt>
                <c:pt idx="9">
                  <c:v>19</c:v>
                </c:pt>
                <c:pt idx="10">
                  <c:v>9</c:v>
                </c:pt>
                <c:pt idx="11">
                  <c:v>1</c:v>
                </c:pt>
                <c:pt idx="12">
                  <c:v>0</c:v>
                </c:pt>
                <c:pt idx="13">
                  <c:v>0</c:v>
                </c:pt>
              </c:numCache>
            </c:numRef>
          </c:val>
          <c:extLst>
            <c:ext xmlns:c16="http://schemas.microsoft.com/office/drawing/2014/chart" uri="{C3380CC4-5D6E-409C-BE32-E72D297353CC}">
              <c16:uniqueId val="{00000001-F4A0-418A-A66C-A96E20593B74}"/>
            </c:ext>
          </c:extLst>
        </c:ser>
        <c:ser>
          <c:idx val="2"/>
          <c:order val="2"/>
          <c:tx>
            <c:strRef>
              <c:f>'Age Distribution of Churned Cus'!$F$4:$F$5</c:f>
              <c:strCache>
                <c:ptCount val="1"/>
                <c:pt idx="0">
                  <c:v>Spain</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'Age Distribution of Churned Cus'!$C$6:$C$21</c:f>
              <c:strCache>
                <c:ptCount val="15"/>
                <c:pt idx="0">
                  <c:v>18-23</c:v>
                </c:pt>
                <c:pt idx="1">
                  <c:v>23-28</c:v>
                </c:pt>
                <c:pt idx="2">
                  <c:v>28-33</c:v>
                </c:pt>
                <c:pt idx="3">
                  <c:v>33-38</c:v>
                </c:pt>
                <c:pt idx="4">
                  <c:v>38-43</c:v>
                </c:pt>
                <c:pt idx="5">
                  <c:v>43-48</c:v>
                </c:pt>
                <c:pt idx="6">
                  <c:v>48-53</c:v>
                </c:pt>
                <c:pt idx="7">
                  <c:v>53-58</c:v>
                </c:pt>
                <c:pt idx="8">
                  <c:v>58-63</c:v>
                </c:pt>
                <c:pt idx="9">
                  <c:v>63-68</c:v>
                </c:pt>
                <c:pt idx="10">
                  <c:v>68-73</c:v>
                </c:pt>
                <c:pt idx="11">
                  <c:v>73-78</c:v>
                </c:pt>
                <c:pt idx="12">
                  <c:v>78-83</c:v>
                </c:pt>
                <c:pt idx="13">
                  <c:v>83-88</c:v>
                </c:pt>
                <c:pt idx="14">
                  <c:v>88-93</c:v>
                </c:pt>
              </c:strCache>
            </c:strRef>
          </c:cat>
          <c:val>
            <c:numRef>
              <c:f>'Age Distribution of Churned Cus'!$F$6:$F$21</c:f>
              <c:numCache>
                <c:formatCode>General</c:formatCode>
                <c:ptCount val="15"/>
                <c:pt idx="0">
                  <c:v>6</c:v>
                </c:pt>
                <c:pt idx="1">
                  <c:v>14</c:v>
                </c:pt>
                <c:pt idx="2">
                  <c:v>37</c:v>
                </c:pt>
                <c:pt idx="3">
                  <c:v>47</c:v>
                </c:pt>
                <c:pt idx="4">
                  <c:v>74</c:v>
                </c:pt>
                <c:pt idx="5">
                  <c:v>85</c:v>
                </c:pt>
                <c:pt idx="6">
                  <c:v>64</c:v>
                </c:pt>
                <c:pt idx="7">
                  <c:v>53</c:v>
                </c:pt>
                <c:pt idx="8">
                  <c:v>16</c:v>
                </c:pt>
                <c:pt idx="9">
                  <c:v>12</c:v>
                </c:pt>
                <c:pt idx="10">
                  <c:v>5</c:v>
                </c:pt>
                <c:pt idx="11">
                  <c:v>0</c:v>
                </c:pt>
                <c:pt idx="12">
                  <c:v>0</c:v>
                </c:pt>
                <c:pt idx="14">
                  <c:v>0</c:v>
                </c:pt>
              </c:numCache>
            </c:numRef>
          </c:val>
          <c:extLst>
            <c:ext xmlns:c16="http://schemas.microsoft.com/office/drawing/2014/chart" uri="{C3380CC4-5D6E-409C-BE32-E72D297353CC}">
              <c16:uniqueId val="{00000002-F4A0-418A-A66C-A96E20593B74}"/>
            </c:ext>
          </c:extLst>
        </c:ser>
        <c:dLbls>
          <c:showLegendKey val="0"/>
          <c:showVal val="0"/>
          <c:showCatName val="0"/>
          <c:showSerName val="0"/>
          <c:showPercent val="0"/>
          <c:showBubbleSize val="0"/>
        </c:dLbls>
        <c:gapWidth val="100"/>
        <c:overlap val="-24"/>
        <c:axId val="1845906560"/>
        <c:axId val="1845907040"/>
      </c:barChart>
      <c:catAx>
        <c:axId val="184590656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45907040"/>
        <c:crosses val="autoZero"/>
        <c:auto val="1"/>
        <c:lblAlgn val="ctr"/>
        <c:lblOffset val="100"/>
        <c:noMultiLvlLbl val="0"/>
      </c:catAx>
      <c:valAx>
        <c:axId val="1845907040"/>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8459065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[Churn_Modelling.xlsm]churn by no. of products!PivotTable1</c:name>
    <c:fmtId val="13"/>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Customer</a:t>
            </a:r>
            <a:r>
              <a:rPr lang="en-IN" baseline="0"/>
              <a:t> Churn  Vs No. of Products </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dLbl>
          <c:idx val="0"/>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'churn by no. of products'!$C$4:$C$5</c:f>
              <c:strCache>
                <c:ptCount val="1"/>
                <c:pt idx="0">
                  <c:v>France</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trendline>
            <c:spPr>
              <a:ln w="19050" cap="rnd">
                <a:solidFill>
                  <a:schemeClr val="accent6"/>
                </a:solidFill>
              </a:ln>
              <a:effectLst/>
            </c:spPr>
            <c:trendlineType val="linear"/>
            <c:dispRSqr val="0"/>
            <c:dispEq val="0"/>
          </c:trendline>
          <c:cat>
            <c:strRef>
              <c:f>'churn by no. of products'!$B$6:$B$10</c:f>
              <c:strCache>
                <c:ptCount val="4"/>
                <c:pt idx="0">
                  <c:v>1</c:v>
                </c:pt>
                <c:pt idx="1">
                  <c:v>2</c:v>
                </c:pt>
                <c:pt idx="2">
                  <c:v>3</c:v>
                </c:pt>
                <c:pt idx="3">
                  <c:v>4</c:v>
                </c:pt>
              </c:strCache>
            </c:strRef>
          </c:cat>
          <c:val>
            <c:numRef>
              <c:f>'churn by no. of products'!$C$6:$C$10</c:f>
              <c:numCache>
                <c:formatCode>General</c:formatCode>
                <c:ptCount val="4"/>
                <c:pt idx="0">
                  <c:v>564</c:v>
                </c:pt>
                <c:pt idx="1">
                  <c:v>135</c:v>
                </c:pt>
                <c:pt idx="2">
                  <c:v>82</c:v>
                </c:pt>
                <c:pt idx="3">
                  <c:v>29</c:v>
                </c:pt>
              </c:numCache>
            </c:numRef>
          </c:val>
          <c:extLst>
            <c:ext xmlns:c16="http://schemas.microsoft.com/office/drawing/2014/chart" uri="{C3380CC4-5D6E-409C-BE32-E72D297353CC}">
              <c16:uniqueId val="{00000000-A46F-4F45-955D-BEE4400D6E06}"/>
            </c:ext>
          </c:extLst>
        </c:ser>
        <c:ser>
          <c:idx val="1"/>
          <c:order val="1"/>
          <c:tx>
            <c:strRef>
              <c:f>'churn by no. of products'!$D$4:$D$5</c:f>
              <c:strCache>
                <c:ptCount val="1"/>
                <c:pt idx="0">
                  <c:v>Germany</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'churn by no. of products'!$B$6:$B$10</c:f>
              <c:strCache>
                <c:ptCount val="4"/>
                <c:pt idx="0">
                  <c:v>1</c:v>
                </c:pt>
                <c:pt idx="1">
                  <c:v>2</c:v>
                </c:pt>
                <c:pt idx="2">
                  <c:v>3</c:v>
                </c:pt>
                <c:pt idx="3">
                  <c:v>4</c:v>
                </c:pt>
              </c:strCache>
            </c:strRef>
          </c:cat>
          <c:val>
            <c:numRef>
              <c:f>'churn by no. of products'!$D$6:$D$10</c:f>
              <c:numCache>
                <c:formatCode>General</c:formatCode>
                <c:ptCount val="4"/>
                <c:pt idx="0">
                  <c:v>578</c:v>
                </c:pt>
                <c:pt idx="1">
                  <c:v>126</c:v>
                </c:pt>
                <c:pt idx="2">
                  <c:v>86</c:v>
                </c:pt>
                <c:pt idx="3">
                  <c:v>24</c:v>
                </c:pt>
              </c:numCache>
            </c:numRef>
          </c:val>
          <c:extLst>
            <c:ext xmlns:c16="http://schemas.microsoft.com/office/drawing/2014/chart" uri="{C3380CC4-5D6E-409C-BE32-E72D297353CC}">
              <c16:uniqueId val="{00000001-A46F-4F45-955D-BEE4400D6E06}"/>
            </c:ext>
          </c:extLst>
        </c:ser>
        <c:ser>
          <c:idx val="2"/>
          <c:order val="2"/>
          <c:tx>
            <c:strRef>
              <c:f>'churn by no. of products'!$E$4:$E$5</c:f>
              <c:strCache>
                <c:ptCount val="1"/>
                <c:pt idx="0">
                  <c:v>Spain</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'churn by no. of products'!$B$6:$B$10</c:f>
              <c:strCache>
                <c:ptCount val="4"/>
                <c:pt idx="0">
                  <c:v>1</c:v>
                </c:pt>
                <c:pt idx="1">
                  <c:v>2</c:v>
                </c:pt>
                <c:pt idx="2">
                  <c:v>3</c:v>
                </c:pt>
                <c:pt idx="3">
                  <c:v>4</c:v>
                </c:pt>
              </c:strCache>
            </c:strRef>
          </c:cat>
          <c:val>
            <c:numRef>
              <c:f>'churn by no. of products'!$E$6:$E$10</c:f>
              <c:numCache>
                <c:formatCode>General</c:formatCode>
                <c:ptCount val="4"/>
                <c:pt idx="0">
                  <c:v>267</c:v>
                </c:pt>
                <c:pt idx="1">
                  <c:v>87</c:v>
                </c:pt>
                <c:pt idx="2">
                  <c:v>52</c:v>
                </c:pt>
                <c:pt idx="3">
                  <c:v>7</c:v>
                </c:pt>
              </c:numCache>
            </c:numRef>
          </c:val>
          <c:extLst>
            <c:ext xmlns:c16="http://schemas.microsoft.com/office/drawing/2014/chart" uri="{C3380CC4-5D6E-409C-BE32-E72D297353CC}">
              <c16:uniqueId val="{00000002-A46F-4F45-955D-BEE4400D6E06}"/>
            </c:ext>
          </c:extLst>
        </c:ser>
        <c:dLbls>
          <c:dLblPos val="outEnd"/>
          <c:showLegendKey val="0"/>
          <c:showVal val="1"/>
          <c:showCatName val="0"/>
          <c:showSerName val="0"/>
          <c:showPercent val="0"/>
          <c:showBubbleSize val="0"/>
        </c:dLbls>
        <c:gapWidth val="100"/>
        <c:overlap val="-24"/>
        <c:axId val="217573727"/>
        <c:axId val="217575647"/>
      </c:barChart>
      <c:catAx>
        <c:axId val="21757372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7575647"/>
        <c:crosses val="autoZero"/>
        <c:auto val="1"/>
        <c:lblAlgn val="ctr"/>
        <c:lblOffset val="100"/>
        <c:noMultiLvlLbl val="0"/>
      </c:catAx>
      <c:valAx>
        <c:axId val="21757564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75737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[Churn_Modelling.xlsm]churn &amp; active membership!PivotTable2</c:name>
    <c:fmtId val="1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Membership</a:t>
            </a:r>
            <a:r>
              <a:rPr lang="en-IN" baseline="0"/>
              <a:t> </a:t>
            </a:r>
            <a:r>
              <a:rPr lang="en-IN"/>
              <a:t>Vs Customer Churn</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dLbl>
          <c:idx val="0"/>
          <c:showLegendKey val="0"/>
          <c:showVal val="0"/>
          <c:showCatName val="0"/>
          <c:showSerName val="0"/>
          <c:showPercent val="0"/>
          <c:showBubbleSize val="0"/>
          <c:extLst>
            <c:ext xmlns:c15="http://schemas.microsoft.com/office/drawing/2012/chart" uri="{CE6537A1-D6FC-4f65-9D91-7224C49458BB}"/>
          </c:extLst>
        </c:dLbl>
      </c:pivotFmt>
      <c:pivotFmt>
        <c:idx val="12"/>
        <c:dLbl>
          <c:idx val="0"/>
          <c:showLegendKey val="0"/>
          <c:showVal val="0"/>
          <c:showCatName val="0"/>
          <c:showSerName val="0"/>
          <c:showPercent val="0"/>
          <c:showBubbleSize val="0"/>
          <c:extLst>
            <c:ext xmlns:c15="http://schemas.microsoft.com/office/drawing/2012/chart" uri="{CE6537A1-D6FC-4f65-9D91-7224C49458BB}"/>
          </c:extLst>
        </c:dLbl>
      </c:pivotFmt>
      <c:pivotFmt>
        <c:idx val="13"/>
        <c:dLbl>
          <c:idx val="0"/>
          <c:showLegendKey val="0"/>
          <c:showVal val="0"/>
          <c:showCatName val="0"/>
          <c:showSerName val="0"/>
          <c:showPercent val="0"/>
          <c:showBubbleSize val="0"/>
          <c:extLst>
            <c:ext xmlns:c15="http://schemas.microsoft.com/office/drawing/2012/chart" uri="{CE6537A1-D6FC-4f65-9D91-7224C49458BB}"/>
          </c:extLst>
        </c:dLbl>
      </c:pivotFmt>
      <c:pivotFmt>
        <c:idx val="14"/>
        <c:dLbl>
          <c:idx val="0"/>
          <c:showLegendKey val="0"/>
          <c:showVal val="0"/>
          <c:showCatName val="0"/>
          <c:showSerName val="0"/>
          <c:showPercent val="0"/>
          <c:showBubbleSize val="0"/>
          <c:extLst>
            <c:ext xmlns:c15="http://schemas.microsoft.com/office/drawing/2012/chart" uri="{CE6537A1-D6FC-4f65-9D91-7224C49458BB}"/>
          </c:extLst>
        </c:dLbl>
      </c:pivotFmt>
      <c:pivotFmt>
        <c:idx val="15"/>
        <c:dLbl>
          <c:idx val="0"/>
          <c:showLegendKey val="0"/>
          <c:showVal val="0"/>
          <c:showCatName val="0"/>
          <c:showSerName val="0"/>
          <c:showPercent val="0"/>
          <c:showBubbleSize val="0"/>
          <c:extLst>
            <c:ext xmlns:c15="http://schemas.microsoft.com/office/drawing/2012/chart" uri="{CE6537A1-D6FC-4f65-9D91-7224C49458BB}"/>
          </c:extLst>
        </c:dLbl>
      </c:pivotFmt>
      <c:pivotFmt>
        <c:idx val="16"/>
        <c:dLbl>
          <c:idx val="0"/>
          <c:showLegendKey val="0"/>
          <c:showVal val="0"/>
          <c:showCatName val="0"/>
          <c:showSerName val="0"/>
          <c:showPercent val="0"/>
          <c:showBubbleSize val="0"/>
          <c:extLst>
            <c:ext xmlns:c15="http://schemas.microsoft.com/office/drawing/2012/chart" uri="{CE6537A1-D6FC-4f65-9D91-7224C49458BB}"/>
          </c:extLst>
        </c:dLbl>
      </c:pivotFmt>
      <c:pivotFmt>
        <c:idx val="17"/>
        <c:dLbl>
          <c:idx val="0"/>
          <c:showLegendKey val="0"/>
          <c:showVal val="0"/>
          <c:showCatName val="0"/>
          <c:showSerName val="0"/>
          <c:showPercent val="0"/>
          <c:showBubbleSize val="0"/>
          <c:extLst>
            <c:ext xmlns:c15="http://schemas.microsoft.com/office/drawing/2012/chart" uri="{CE6537A1-D6FC-4f65-9D91-7224C49458BB}"/>
          </c:extLst>
        </c:dLbl>
      </c:pivotFmt>
      <c:pivotFmt>
        <c:idx val="18"/>
        <c:dLbl>
          <c:idx val="0"/>
          <c:showLegendKey val="0"/>
          <c:showVal val="0"/>
          <c:showCatName val="0"/>
          <c:showSerName val="0"/>
          <c:showPercent val="0"/>
          <c:showBubbleSize val="0"/>
          <c:extLst>
            <c:ext xmlns:c15="http://schemas.microsoft.com/office/drawing/2012/chart" uri="{CE6537A1-D6FC-4f65-9D91-7224C49458BB}"/>
          </c:extLst>
        </c:dLbl>
      </c:pivotFmt>
      <c:pivotFmt>
        <c:idx val="19"/>
        <c:dLbl>
          <c:idx val="0"/>
          <c:showLegendKey val="0"/>
          <c:showVal val="0"/>
          <c:showCatName val="0"/>
          <c:showSerName val="0"/>
          <c:showPercent val="0"/>
          <c:showBubbleSize val="0"/>
          <c:extLst>
            <c:ext xmlns:c15="http://schemas.microsoft.com/office/drawing/2012/chart" uri="{CE6537A1-D6FC-4f65-9D91-7224C49458BB}"/>
          </c:extLst>
        </c:dLbl>
      </c:pivotFmt>
      <c:pivotFmt>
        <c:idx val="20"/>
        <c:dLbl>
          <c:idx val="0"/>
          <c:showLegendKey val="0"/>
          <c:showVal val="0"/>
          <c:showCatName val="0"/>
          <c:showSerName val="0"/>
          <c:showPercent val="0"/>
          <c:showBubbleSize val="0"/>
          <c:extLst>
            <c:ext xmlns:c15="http://schemas.microsoft.com/office/drawing/2012/chart" uri="{CE6537A1-D6FC-4f65-9D91-7224C49458BB}"/>
          </c:extLst>
        </c:dLbl>
      </c:pivotFmt>
      <c:pivotFmt>
        <c:idx val="21"/>
        <c:dLbl>
          <c:idx val="0"/>
          <c:showLegendKey val="0"/>
          <c:showVal val="0"/>
          <c:showCatName val="0"/>
          <c:showSerName val="0"/>
          <c:showPercent val="0"/>
          <c:showBubbleSize val="0"/>
          <c:extLst>
            <c:ext xmlns:c15="http://schemas.microsoft.com/office/drawing/2012/chart" uri="{CE6537A1-D6FC-4f65-9D91-7224C49458BB}"/>
          </c:extLst>
        </c:dLbl>
      </c:pivotFmt>
      <c:pivotFmt>
        <c:idx val="22"/>
        <c:dLbl>
          <c:idx val="0"/>
          <c:showLegendKey val="0"/>
          <c:showVal val="0"/>
          <c:showCatName val="0"/>
          <c:showSerName val="0"/>
          <c:showPercent val="0"/>
          <c:showBubbleSize val="0"/>
          <c:extLst>
            <c:ext xmlns:c15="http://schemas.microsoft.com/office/drawing/2012/chart" uri="{CE6537A1-D6FC-4f65-9D91-7224C49458BB}"/>
          </c:extLst>
        </c:dLbl>
      </c:pivotFmt>
      <c:pivotFmt>
        <c:idx val="23"/>
        <c:dLbl>
          <c:idx val="0"/>
          <c:showLegendKey val="0"/>
          <c:showVal val="0"/>
          <c:showCatName val="0"/>
          <c:showSerName val="0"/>
          <c:showPercent val="0"/>
          <c:showBubbleSize val="0"/>
          <c:extLst>
            <c:ext xmlns:c15="http://schemas.microsoft.com/office/drawing/2012/chart" uri="{CE6537A1-D6FC-4f65-9D91-7224C49458BB}"/>
          </c:extLst>
        </c:dLbl>
      </c:pivotFmt>
      <c:pivotFmt>
        <c:idx val="24"/>
        <c:dLbl>
          <c:idx val="0"/>
          <c:showLegendKey val="0"/>
          <c:showVal val="0"/>
          <c:showCatName val="0"/>
          <c:showSerName val="0"/>
          <c:showPercent val="0"/>
          <c:showBubbleSize val="0"/>
          <c:extLst>
            <c:ext xmlns:c15="http://schemas.microsoft.com/office/drawing/2012/chart" uri="{CE6537A1-D6FC-4f65-9D91-7224C49458BB}"/>
          </c:extLst>
        </c:dLbl>
      </c:pivotFmt>
      <c:pivotFmt>
        <c:idx val="25"/>
        <c:dLbl>
          <c:idx val="0"/>
          <c:showLegendKey val="0"/>
          <c:showVal val="0"/>
          <c:showCatName val="0"/>
          <c:showSerName val="0"/>
          <c:showPercent val="0"/>
          <c:showBubbleSize val="0"/>
          <c:extLst>
            <c:ext xmlns:c15="http://schemas.microsoft.com/office/drawing/2012/chart" uri="{CE6537A1-D6FC-4f65-9D91-7224C49458BB}"/>
          </c:extLst>
        </c:dLbl>
      </c:pivotFmt>
      <c:pivotFmt>
        <c:idx val="26"/>
        <c:dLbl>
          <c:idx val="0"/>
          <c:showLegendKey val="0"/>
          <c:showVal val="0"/>
          <c:showCatName val="0"/>
          <c:showSerName val="0"/>
          <c:showPercent val="0"/>
          <c:showBubbleSize val="0"/>
          <c:extLst>
            <c:ext xmlns:c15="http://schemas.microsoft.com/office/drawing/2012/chart" uri="{CE6537A1-D6FC-4f65-9D91-7224C49458BB}"/>
          </c:extLst>
        </c:dLbl>
      </c:pivotFmt>
      <c:pivotFmt>
        <c:idx val="27"/>
        <c:dLbl>
          <c:idx val="0"/>
          <c:showLegendKey val="0"/>
          <c:showVal val="0"/>
          <c:showCatName val="0"/>
          <c:showSerName val="0"/>
          <c:showPercent val="0"/>
          <c:showBubbleSize val="0"/>
          <c:extLst>
            <c:ext xmlns:c15="http://schemas.microsoft.com/office/drawing/2012/chart" uri="{CE6537A1-D6FC-4f65-9D91-7224C49458BB}"/>
          </c:extLst>
        </c:dLbl>
      </c:pivotFmt>
      <c:pivotFmt>
        <c:idx val="28"/>
        <c:dLbl>
          <c:idx val="0"/>
          <c:showLegendKey val="0"/>
          <c:showVal val="0"/>
          <c:showCatName val="0"/>
          <c:showSerName val="0"/>
          <c:showPercent val="0"/>
          <c:showBubbleSize val="0"/>
          <c:extLst>
            <c:ext xmlns:c15="http://schemas.microsoft.com/office/drawing/2012/chart" uri="{CE6537A1-D6FC-4f65-9D91-7224C49458BB}"/>
          </c:extLst>
        </c:dLbl>
      </c:pivotFmt>
      <c:pivotFmt>
        <c:idx val="29"/>
        <c:dLbl>
          <c:idx val="0"/>
          <c:showLegendKey val="0"/>
          <c:showVal val="0"/>
          <c:showCatName val="0"/>
          <c:showSerName val="0"/>
          <c:showPercent val="0"/>
          <c:showBubbleSize val="0"/>
          <c:extLst>
            <c:ext xmlns:c15="http://schemas.microsoft.com/office/drawing/2012/chart" uri="{CE6537A1-D6FC-4f65-9D91-7224C49458BB}"/>
          </c:extLst>
        </c:dLbl>
      </c:pivotFmt>
      <c:pivotFmt>
        <c:idx val="30"/>
        <c:dLbl>
          <c:idx val="0"/>
          <c:showLegendKey val="0"/>
          <c:showVal val="0"/>
          <c:showCatName val="0"/>
          <c:showSerName val="0"/>
          <c:showPercent val="0"/>
          <c:showBubbleSize val="0"/>
          <c:extLst>
            <c:ext xmlns:c15="http://schemas.microsoft.com/office/drawing/2012/chart" uri="{CE6537A1-D6FC-4f65-9D91-7224C49458BB}"/>
          </c:extLst>
        </c:dLbl>
      </c:pivotFmt>
      <c:pivotFmt>
        <c:idx val="31"/>
        <c:dLbl>
          <c:idx val="0"/>
          <c:showLegendKey val="0"/>
          <c:showVal val="0"/>
          <c:showCatName val="0"/>
          <c:showSerName val="0"/>
          <c:showPercent val="0"/>
          <c:showBubbleSize val="0"/>
          <c:extLst>
            <c:ext xmlns:c15="http://schemas.microsoft.com/office/drawing/2012/chart" uri="{CE6537A1-D6FC-4f65-9D91-7224C49458BB}"/>
          </c:extLst>
        </c:dLbl>
      </c:pivotFmt>
      <c:pivotFmt>
        <c:idx val="32"/>
        <c:dLbl>
          <c:idx val="0"/>
          <c:showLegendKey val="0"/>
          <c:showVal val="0"/>
          <c:showCatName val="0"/>
          <c:showSerName val="0"/>
          <c:showPercent val="0"/>
          <c:showBubbleSize val="0"/>
          <c:extLst>
            <c:ext xmlns:c15="http://schemas.microsoft.com/office/drawing/2012/chart" uri="{CE6537A1-D6FC-4f65-9D91-7224C49458BB}"/>
          </c:extLst>
        </c:dLbl>
      </c:pivotFmt>
      <c:pivotFmt>
        <c:idx val="33"/>
        <c:dLbl>
          <c:idx val="0"/>
          <c:showLegendKey val="0"/>
          <c:showVal val="0"/>
          <c:showCatName val="0"/>
          <c:showSerName val="0"/>
          <c:showPercent val="0"/>
          <c:showBubbleSize val="0"/>
          <c:extLst>
            <c:ext xmlns:c15="http://schemas.microsoft.com/office/drawing/2012/chart" uri="{CE6537A1-D6FC-4f65-9D91-7224C49458BB}"/>
          </c:extLst>
        </c:dLbl>
      </c:pivotFmt>
      <c:pivotFmt>
        <c:idx val="34"/>
        <c:dLbl>
          <c:idx val="0"/>
          <c:showLegendKey val="0"/>
          <c:showVal val="0"/>
          <c:showCatName val="0"/>
          <c:showSerName val="0"/>
          <c:showPercent val="0"/>
          <c:showBubbleSize val="0"/>
          <c:extLst>
            <c:ext xmlns:c15="http://schemas.microsoft.com/office/drawing/2012/chart" uri="{CE6537A1-D6FC-4f65-9D91-7224C49458BB}"/>
          </c:extLst>
        </c:dLbl>
      </c:pivotFmt>
      <c:pivotFmt>
        <c:idx val="35"/>
        <c:dLbl>
          <c:idx val="0"/>
          <c:showLegendKey val="0"/>
          <c:showVal val="0"/>
          <c:showCatName val="0"/>
          <c:showSerName val="0"/>
          <c:showPercent val="0"/>
          <c:showBubbleSize val="0"/>
          <c:extLst>
            <c:ext xmlns:c15="http://schemas.microsoft.com/office/drawing/2012/chart" uri="{CE6537A1-D6FC-4f65-9D91-7224C49458BB}"/>
          </c:extLst>
        </c:dLbl>
      </c:pivotFmt>
      <c:pivotFmt>
        <c:idx val="36"/>
        <c:dLbl>
          <c:idx val="0"/>
          <c:showLegendKey val="0"/>
          <c:showVal val="0"/>
          <c:showCatName val="0"/>
          <c:showSerName val="0"/>
          <c:showPercent val="0"/>
          <c:showBubbleSize val="0"/>
          <c:extLst>
            <c:ext xmlns:c15="http://schemas.microsoft.com/office/drawing/2012/chart" uri="{CE6537A1-D6FC-4f65-9D91-7224C49458BB}"/>
          </c:extLst>
        </c:dLbl>
      </c:pivotFmt>
      <c:pivotFmt>
        <c:idx val="37"/>
        <c:dLbl>
          <c:idx val="0"/>
          <c:showLegendKey val="0"/>
          <c:showVal val="0"/>
          <c:showCatName val="0"/>
          <c:showSerName val="0"/>
          <c:showPercent val="0"/>
          <c:showBubbleSize val="0"/>
          <c:extLst>
            <c:ext xmlns:c15="http://schemas.microsoft.com/office/drawing/2012/chart" uri="{CE6537A1-D6FC-4f65-9D91-7224C49458BB}"/>
          </c:extLst>
        </c:dLbl>
      </c:pivotFmt>
      <c:pivotFmt>
        <c:idx val="38"/>
        <c:dLbl>
          <c:idx val="0"/>
          <c:showLegendKey val="0"/>
          <c:showVal val="0"/>
          <c:showCatName val="0"/>
          <c:showSerName val="0"/>
          <c:showPercent val="0"/>
          <c:showBubbleSize val="0"/>
          <c:extLst>
            <c:ext xmlns:c15="http://schemas.microsoft.com/office/drawing/2012/chart" uri="{CE6537A1-D6FC-4f65-9D91-7224C49458BB}"/>
          </c:extLst>
        </c:dLbl>
      </c:pivotFmt>
      <c:pivotFmt>
        <c:idx val="39"/>
        <c:dLbl>
          <c:idx val="0"/>
          <c:showLegendKey val="0"/>
          <c:showVal val="0"/>
          <c:showCatName val="0"/>
          <c:showSerName val="0"/>
          <c:showPercent val="0"/>
          <c:showBubbleSize val="0"/>
          <c:extLst>
            <c:ext xmlns:c15="http://schemas.microsoft.com/office/drawing/2012/chart" uri="{CE6537A1-D6FC-4f65-9D91-7224C49458BB}"/>
          </c:extLst>
        </c:dLbl>
      </c:pivotFmt>
      <c:pivotFmt>
        <c:idx val="40"/>
        <c:dLbl>
          <c:idx val="0"/>
          <c:showLegendKey val="0"/>
          <c:showVal val="0"/>
          <c:showCatName val="0"/>
          <c:showSerName val="0"/>
          <c:showPercent val="0"/>
          <c:showBubbleSize val="0"/>
          <c:extLst>
            <c:ext xmlns:c15="http://schemas.microsoft.com/office/drawing/2012/chart" uri="{CE6537A1-D6FC-4f65-9D91-7224C49458BB}"/>
          </c:extLst>
        </c:dLbl>
      </c:pivotFmt>
      <c:pivotFmt>
        <c:idx val="41"/>
        <c:dLbl>
          <c:idx val="0"/>
          <c:showLegendKey val="0"/>
          <c:showVal val="0"/>
          <c:showCatName val="0"/>
          <c:showSerName val="0"/>
          <c:showPercent val="0"/>
          <c:showBubbleSize val="0"/>
          <c:extLst>
            <c:ext xmlns:c15="http://schemas.microsoft.com/office/drawing/2012/chart" uri="{CE6537A1-D6FC-4f65-9D91-7224C49458BB}"/>
          </c:extLst>
        </c:dLbl>
      </c:pivotFmt>
      <c:pivotFmt>
        <c:idx val="42"/>
        <c:dLbl>
          <c:idx val="0"/>
          <c:showLegendKey val="0"/>
          <c:showVal val="0"/>
          <c:showCatName val="0"/>
          <c:showSerName val="0"/>
          <c:showPercent val="0"/>
          <c:showBubbleSize val="0"/>
          <c:extLst>
            <c:ext xmlns:c15="http://schemas.microsoft.com/office/drawing/2012/chart" uri="{CE6537A1-D6FC-4f65-9D91-7224C49458BB}"/>
          </c:extLst>
        </c:dLbl>
      </c:pivotFmt>
      <c:pivotFmt>
        <c:idx val="43"/>
        <c:dLbl>
          <c:idx val="0"/>
          <c:showLegendKey val="0"/>
          <c:showVal val="0"/>
          <c:showCatName val="0"/>
          <c:showSerName val="0"/>
          <c:showPercent val="0"/>
          <c:showBubbleSize val="0"/>
          <c:extLst>
            <c:ext xmlns:c15="http://schemas.microsoft.com/office/drawing/2012/chart" uri="{CE6537A1-D6FC-4f65-9D91-7224C49458BB}"/>
          </c:extLst>
        </c:dLbl>
      </c:pivotFmt>
      <c:pivotFmt>
        <c:idx val="44"/>
        <c:dLbl>
          <c:idx val="0"/>
          <c:showLegendKey val="0"/>
          <c:showVal val="0"/>
          <c:showCatName val="0"/>
          <c:showSerName val="0"/>
          <c:showPercent val="0"/>
          <c:showBubbleSize val="0"/>
          <c:extLst>
            <c:ext xmlns:c15="http://schemas.microsoft.com/office/drawing/2012/chart" uri="{CE6537A1-D6FC-4f65-9D91-7224C49458BB}"/>
          </c:extLst>
        </c:dLbl>
      </c:pivotFmt>
      <c:pivotFmt>
        <c:idx val="45"/>
        <c:dLbl>
          <c:idx val="0"/>
          <c:showLegendKey val="0"/>
          <c:showVal val="0"/>
          <c:showCatName val="0"/>
          <c:showSerName val="0"/>
          <c:showPercent val="0"/>
          <c:showBubbleSize val="0"/>
          <c:extLst>
            <c:ext xmlns:c15="http://schemas.microsoft.com/office/drawing/2012/chart" uri="{CE6537A1-D6FC-4f65-9D91-7224C49458BB}"/>
          </c:extLst>
        </c:dLbl>
      </c:pivotFmt>
      <c:pivotFmt>
        <c:idx val="46"/>
        <c:dLbl>
          <c:idx val="0"/>
          <c:showLegendKey val="0"/>
          <c:showVal val="0"/>
          <c:showCatName val="0"/>
          <c:showSerName val="0"/>
          <c:showPercent val="0"/>
          <c:showBubbleSize val="0"/>
          <c:extLst>
            <c:ext xmlns:c15="http://schemas.microsoft.com/office/drawing/2012/chart" uri="{CE6537A1-D6FC-4f65-9D91-7224C49458BB}"/>
          </c:extLst>
        </c:dLbl>
      </c:pivotFmt>
      <c:pivotFmt>
        <c:idx val="47"/>
        <c:dLbl>
          <c:idx val="0"/>
          <c:showLegendKey val="0"/>
          <c:showVal val="0"/>
          <c:showCatName val="0"/>
          <c:showSerName val="0"/>
          <c:showPercent val="0"/>
          <c:showBubbleSize val="0"/>
          <c:extLst>
            <c:ext xmlns:c15="http://schemas.microsoft.com/office/drawing/2012/chart" uri="{CE6537A1-D6FC-4f65-9D91-7224C49458BB}"/>
          </c:extLst>
        </c:dLbl>
      </c:pivotFmt>
      <c:pivotFmt>
        <c:idx val="48"/>
        <c:dLbl>
          <c:idx val="0"/>
          <c:showLegendKey val="0"/>
          <c:showVal val="0"/>
          <c:showCatName val="0"/>
          <c:showSerName val="0"/>
          <c:showPercent val="0"/>
          <c:showBubbleSize val="0"/>
          <c:extLst>
            <c:ext xmlns:c15="http://schemas.microsoft.com/office/drawing/2012/chart" uri="{CE6537A1-D6FC-4f65-9D91-7224C49458BB}"/>
          </c:extLst>
        </c:dLbl>
      </c:pivotFmt>
      <c:pivotFmt>
        <c:idx val="49"/>
        <c:dLbl>
          <c:idx val="0"/>
          <c:showLegendKey val="0"/>
          <c:showVal val="0"/>
          <c:showCatName val="0"/>
          <c:showSerName val="0"/>
          <c:showPercent val="0"/>
          <c:showBubbleSize val="0"/>
          <c:extLst>
            <c:ext xmlns:c15="http://schemas.microsoft.com/office/drawing/2012/chart" uri="{CE6537A1-D6FC-4f65-9D91-7224C49458BB}"/>
          </c:extLst>
        </c:dLbl>
      </c:pivotFmt>
      <c:pivotFmt>
        <c:idx val="50"/>
        <c:dLbl>
          <c:idx val="0"/>
          <c:showLegendKey val="0"/>
          <c:showVal val="0"/>
          <c:showCatName val="0"/>
          <c:showSerName val="0"/>
          <c:showPercent val="0"/>
          <c:showBubbleSize val="0"/>
          <c:extLst>
            <c:ext xmlns:c15="http://schemas.microsoft.com/office/drawing/2012/chart" uri="{CE6537A1-D6FC-4f65-9D91-7224C49458BB}"/>
          </c:extLst>
        </c:dLbl>
      </c:pivotFmt>
      <c:pivotFmt>
        <c:idx val="51"/>
        <c:dLbl>
          <c:idx val="0"/>
          <c:showLegendKey val="0"/>
          <c:showVal val="0"/>
          <c:showCatName val="0"/>
          <c:showSerName val="0"/>
          <c:showPercent val="0"/>
          <c:showBubbleSize val="0"/>
          <c:extLst>
            <c:ext xmlns:c15="http://schemas.microsoft.com/office/drawing/2012/chart" uri="{CE6537A1-D6FC-4f65-9D91-7224C49458BB}"/>
          </c:extLst>
        </c:dLbl>
      </c:pivotFmt>
      <c:pivotFmt>
        <c:idx val="52"/>
        <c:dLbl>
          <c:idx val="0"/>
          <c:showLegendKey val="0"/>
          <c:showVal val="0"/>
          <c:showCatName val="0"/>
          <c:showSerName val="0"/>
          <c:showPercent val="0"/>
          <c:showBubbleSize val="0"/>
          <c:extLst>
            <c:ext xmlns:c15="http://schemas.microsoft.com/office/drawing/2012/chart" uri="{CE6537A1-D6FC-4f65-9D91-7224C49458BB}"/>
          </c:extLst>
        </c:dLbl>
      </c:pivotFmt>
      <c:pivotFmt>
        <c:idx val="53"/>
        <c:dLbl>
          <c:idx val="0"/>
          <c:showLegendKey val="0"/>
          <c:showVal val="0"/>
          <c:showCatName val="0"/>
          <c:showSerName val="0"/>
          <c:showPercent val="0"/>
          <c:showBubbleSize val="0"/>
          <c:extLst>
            <c:ext xmlns:c15="http://schemas.microsoft.com/office/drawing/2012/chart" uri="{CE6537A1-D6FC-4f65-9D91-7224C49458BB}"/>
          </c:extLst>
        </c:dLbl>
      </c:pivotFmt>
      <c:pivotFmt>
        <c:idx val="54"/>
        <c:dLbl>
          <c:idx val="0"/>
          <c:showLegendKey val="0"/>
          <c:showVal val="0"/>
          <c:showCatName val="0"/>
          <c:showSerName val="0"/>
          <c:showPercent val="0"/>
          <c:showBubbleSize val="0"/>
          <c:extLst>
            <c:ext xmlns:c15="http://schemas.microsoft.com/office/drawing/2012/chart" uri="{CE6537A1-D6FC-4f65-9D91-7224C49458BB}"/>
          </c:extLst>
        </c:dLbl>
      </c:pivotFmt>
      <c:pivotFmt>
        <c:idx val="55"/>
        <c:dLbl>
          <c:idx val="0"/>
          <c:showLegendKey val="0"/>
          <c:showVal val="0"/>
          <c:showCatName val="0"/>
          <c:showSerName val="0"/>
          <c:showPercent val="0"/>
          <c:showBubbleSize val="0"/>
          <c:extLst>
            <c:ext xmlns:c15="http://schemas.microsoft.com/office/drawing/2012/chart" uri="{CE6537A1-D6FC-4f65-9D91-7224C49458BB}"/>
          </c:extLst>
        </c:dLbl>
      </c:pivotFmt>
      <c:pivotFmt>
        <c:idx val="56"/>
        <c:dLbl>
          <c:idx val="0"/>
          <c:showLegendKey val="0"/>
          <c:showVal val="0"/>
          <c:showCatName val="0"/>
          <c:showSerName val="0"/>
          <c:showPercent val="0"/>
          <c:showBubbleSize val="0"/>
          <c:extLst>
            <c:ext xmlns:c15="http://schemas.microsoft.com/office/drawing/2012/chart" uri="{CE6537A1-D6FC-4f65-9D91-7224C49458BB}"/>
          </c:extLst>
        </c:dLbl>
      </c:pivotFmt>
      <c:pivotFmt>
        <c:idx val="57"/>
        <c:dLbl>
          <c:idx val="0"/>
          <c:showLegendKey val="0"/>
          <c:showVal val="0"/>
          <c:showCatName val="0"/>
          <c:showSerName val="0"/>
          <c:showPercent val="0"/>
          <c:showBubbleSize val="0"/>
          <c:extLst>
            <c:ext xmlns:c15="http://schemas.microsoft.com/office/drawing/2012/chart" uri="{CE6537A1-D6FC-4f65-9D91-7224C49458BB}"/>
          </c:extLst>
        </c:dLbl>
      </c:pivotFmt>
      <c:pivotFmt>
        <c:idx val="58"/>
        <c:dLbl>
          <c:idx val="0"/>
          <c:showLegendKey val="0"/>
          <c:showVal val="0"/>
          <c:showCatName val="0"/>
          <c:showSerName val="0"/>
          <c:showPercent val="0"/>
          <c:showBubbleSize val="0"/>
          <c:extLst>
            <c:ext xmlns:c15="http://schemas.microsoft.com/office/drawing/2012/chart" uri="{CE6537A1-D6FC-4f65-9D91-7224C49458BB}"/>
          </c:extLst>
        </c:dLbl>
      </c:pivotFmt>
      <c:pivotFmt>
        <c:idx val="59"/>
        <c:dLbl>
          <c:idx val="0"/>
          <c:showLegendKey val="0"/>
          <c:showVal val="0"/>
          <c:showCatName val="0"/>
          <c:showSerName val="0"/>
          <c:showPercent val="0"/>
          <c:showBubbleSize val="0"/>
          <c:extLst>
            <c:ext xmlns:c15="http://schemas.microsoft.com/office/drawing/2012/chart" uri="{CE6537A1-D6FC-4f65-9D91-7224C49458BB}"/>
          </c:extLst>
        </c:dLbl>
      </c:pivotFmt>
      <c:pivotFmt>
        <c:idx val="60"/>
        <c:dLbl>
          <c:idx val="0"/>
          <c:showLegendKey val="0"/>
          <c:showVal val="0"/>
          <c:showCatName val="0"/>
          <c:showSerName val="0"/>
          <c:showPercent val="0"/>
          <c:showBubbleSize val="0"/>
          <c:extLst>
            <c:ext xmlns:c15="http://schemas.microsoft.com/office/drawing/2012/chart" uri="{CE6537A1-D6FC-4f65-9D91-7224C49458BB}"/>
          </c:extLst>
        </c:dLbl>
      </c:pivotFmt>
      <c:pivotFmt>
        <c:idx val="61"/>
        <c:dLbl>
          <c:idx val="0"/>
          <c:showLegendKey val="0"/>
          <c:showVal val="0"/>
          <c:showCatName val="0"/>
          <c:showSerName val="0"/>
          <c:showPercent val="0"/>
          <c:showBubbleSize val="0"/>
          <c:extLst>
            <c:ext xmlns:c15="http://schemas.microsoft.com/office/drawing/2012/chart" uri="{CE6537A1-D6FC-4f65-9D91-7224C49458BB}"/>
          </c:extLst>
        </c:dLbl>
      </c:pivotFmt>
      <c:pivotFmt>
        <c:idx val="62"/>
        <c:dLbl>
          <c:idx val="0"/>
          <c:showLegendKey val="0"/>
          <c:showVal val="0"/>
          <c:showCatName val="0"/>
          <c:showSerName val="0"/>
          <c:showPercent val="0"/>
          <c:showBubbleSize val="0"/>
          <c:extLst>
            <c:ext xmlns:c15="http://schemas.microsoft.com/office/drawing/2012/chart" uri="{CE6537A1-D6FC-4f65-9D91-7224C49458BB}"/>
          </c:extLst>
        </c:dLbl>
      </c:pivotFmt>
      <c:pivotFmt>
        <c:idx val="63"/>
        <c:dLbl>
          <c:idx val="0"/>
          <c:showLegendKey val="0"/>
          <c:showVal val="0"/>
          <c:showCatName val="0"/>
          <c:showSerName val="0"/>
          <c:showPercent val="0"/>
          <c:showBubbleSize val="0"/>
          <c:extLst>
            <c:ext xmlns:c15="http://schemas.microsoft.com/office/drawing/2012/chart" uri="{CE6537A1-D6FC-4f65-9D91-7224C49458BB}"/>
          </c:extLst>
        </c:dLbl>
      </c:pivotFmt>
      <c:pivotFmt>
        <c:idx val="64"/>
        <c:dLbl>
          <c:idx val="0"/>
          <c:showLegendKey val="0"/>
          <c:showVal val="0"/>
          <c:showCatName val="0"/>
          <c:showSerName val="0"/>
          <c:showPercent val="0"/>
          <c:showBubbleSize val="0"/>
          <c:extLst>
            <c:ext xmlns:c15="http://schemas.microsoft.com/office/drawing/2012/chart" uri="{CE6537A1-D6FC-4f65-9D91-7224C49458BB}"/>
          </c:extLst>
        </c:dLbl>
      </c:pivotFmt>
      <c:pivotFmt>
        <c:idx val="65"/>
        <c:dLbl>
          <c:idx val="0"/>
          <c:showLegendKey val="0"/>
          <c:showVal val="0"/>
          <c:showCatName val="0"/>
          <c:showSerName val="0"/>
          <c:showPercent val="0"/>
          <c:showBubbleSize val="0"/>
          <c:extLst>
            <c:ext xmlns:c15="http://schemas.microsoft.com/office/drawing/2012/chart" uri="{CE6537A1-D6FC-4f65-9D91-7224C49458BB}"/>
          </c:extLst>
        </c:dLbl>
      </c:pivotFmt>
      <c:pivotFmt>
        <c:idx val="66"/>
        <c:dLbl>
          <c:idx val="0"/>
          <c:showLegendKey val="0"/>
          <c:showVal val="0"/>
          <c:showCatName val="0"/>
          <c:showSerName val="0"/>
          <c:showPercent val="0"/>
          <c:showBubbleSize val="0"/>
          <c:extLst>
            <c:ext xmlns:c15="http://schemas.microsoft.com/office/drawing/2012/chart" uri="{CE6537A1-D6FC-4f65-9D91-7224C49458BB}"/>
          </c:extLst>
        </c:dLbl>
      </c:pivotFmt>
      <c:pivotFmt>
        <c:idx val="67"/>
        <c:dLbl>
          <c:idx val="0"/>
          <c:showLegendKey val="0"/>
          <c:showVal val="0"/>
          <c:showCatName val="0"/>
          <c:showSerName val="0"/>
          <c:showPercent val="0"/>
          <c:showBubbleSize val="0"/>
          <c:extLst>
            <c:ext xmlns:c15="http://schemas.microsoft.com/office/drawing/2012/chart" uri="{CE6537A1-D6FC-4f65-9D91-7224C49458BB}"/>
          </c:extLst>
        </c:dLbl>
      </c:pivotFmt>
      <c:pivotFmt>
        <c:idx val="68"/>
        <c:dLbl>
          <c:idx val="0"/>
          <c:showLegendKey val="0"/>
          <c:showVal val="0"/>
          <c:showCatName val="0"/>
          <c:showSerName val="0"/>
          <c:showPercent val="0"/>
          <c:showBubbleSize val="0"/>
          <c:extLst>
            <c:ext xmlns:c15="http://schemas.microsoft.com/office/drawing/2012/chart" uri="{CE6537A1-D6FC-4f65-9D91-7224C49458BB}"/>
          </c:extLst>
        </c:dLbl>
      </c:pivotFmt>
      <c:pivotFmt>
        <c:idx val="69"/>
        <c:dLbl>
          <c:idx val="0"/>
          <c:showLegendKey val="0"/>
          <c:showVal val="0"/>
          <c:showCatName val="0"/>
          <c:showSerName val="0"/>
          <c:showPercent val="0"/>
          <c:showBubbleSize val="0"/>
          <c:extLst>
            <c:ext xmlns:c15="http://schemas.microsoft.com/office/drawing/2012/chart" uri="{CE6537A1-D6FC-4f65-9D91-7224C49458BB}"/>
          </c:extLst>
        </c:dLbl>
      </c:pivotFmt>
      <c:pivotFmt>
        <c:idx val="70"/>
        <c:dLbl>
          <c:idx val="0"/>
          <c:showLegendKey val="0"/>
          <c:showVal val="0"/>
          <c:showCatName val="0"/>
          <c:showSerName val="0"/>
          <c:showPercent val="0"/>
          <c:showBubbleSize val="0"/>
          <c:extLst>
            <c:ext xmlns:c15="http://schemas.microsoft.com/office/drawing/2012/chart" uri="{CE6537A1-D6FC-4f65-9D91-7224C49458BB}"/>
          </c:extLst>
        </c:dLbl>
      </c:pivotFmt>
      <c:pivotFmt>
        <c:idx val="71"/>
        <c:dLbl>
          <c:idx val="0"/>
          <c:showLegendKey val="0"/>
          <c:showVal val="0"/>
          <c:showCatName val="0"/>
          <c:showSerName val="0"/>
          <c:showPercent val="0"/>
          <c:showBubbleSize val="0"/>
          <c:extLst>
            <c:ext xmlns:c15="http://schemas.microsoft.com/office/drawing/2012/chart" uri="{CE6537A1-D6FC-4f65-9D91-7224C49458BB}"/>
          </c:extLst>
        </c:dLbl>
      </c:pivotFmt>
      <c:pivotFmt>
        <c:idx val="72"/>
        <c:dLbl>
          <c:idx val="0"/>
          <c:showLegendKey val="0"/>
          <c:showVal val="0"/>
          <c:showCatName val="0"/>
          <c:showSerName val="0"/>
          <c:showPercent val="0"/>
          <c:showBubbleSize val="0"/>
          <c:extLst>
            <c:ext xmlns:c15="http://schemas.microsoft.com/office/drawing/2012/chart" uri="{CE6537A1-D6FC-4f65-9D91-7224C49458BB}"/>
          </c:extLst>
        </c:dLbl>
      </c:pivotFmt>
      <c:pivotFmt>
        <c:idx val="7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'churn &amp; active membership'!$D$4:$D$5</c:f>
              <c:strCache>
                <c:ptCount val="1"/>
                <c:pt idx="0">
                  <c:v>France</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'churn &amp; active membership'!$C$6:$C$8</c:f>
              <c:strCache>
                <c:ptCount val="2"/>
                <c:pt idx="0">
                  <c:v>0</c:v>
                </c:pt>
                <c:pt idx="1">
                  <c:v>1</c:v>
                </c:pt>
              </c:strCache>
            </c:strRef>
          </c:cat>
          <c:val>
            <c:numRef>
              <c:f>'churn &amp; active membership'!$D$6:$D$8</c:f>
              <c:numCache>
                <c:formatCode>General</c:formatCode>
                <c:ptCount val="2"/>
                <c:pt idx="0">
                  <c:v>512</c:v>
                </c:pt>
                <c:pt idx="1">
                  <c:v>298</c:v>
                </c:pt>
              </c:numCache>
            </c:numRef>
          </c:val>
          <c:extLst>
            <c:ext xmlns:c16="http://schemas.microsoft.com/office/drawing/2014/chart" uri="{C3380CC4-5D6E-409C-BE32-E72D297353CC}">
              <c16:uniqueId val="{00000000-2F96-4260-9377-CBDDE7AA29E2}"/>
            </c:ext>
          </c:extLst>
        </c:ser>
        <c:ser>
          <c:idx val="1"/>
          <c:order val="1"/>
          <c:tx>
            <c:strRef>
              <c:f>'churn &amp; active membership'!$E$4:$E$5</c:f>
              <c:strCache>
                <c:ptCount val="1"/>
                <c:pt idx="0">
                  <c:v>Germany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'churn &amp; active membership'!$C$6:$C$8</c:f>
              <c:strCache>
                <c:ptCount val="2"/>
                <c:pt idx="0">
                  <c:v>0</c:v>
                </c:pt>
                <c:pt idx="1">
                  <c:v>1</c:v>
                </c:pt>
              </c:strCache>
            </c:strRef>
          </c:cat>
          <c:val>
            <c:numRef>
              <c:f>'churn &amp; active membership'!$E$6:$E$8</c:f>
              <c:numCache>
                <c:formatCode>General</c:formatCode>
                <c:ptCount val="2"/>
                <c:pt idx="0">
                  <c:v>518</c:v>
                </c:pt>
                <c:pt idx="1">
                  <c:v>296</c:v>
                </c:pt>
              </c:numCache>
            </c:numRef>
          </c:val>
          <c:extLst>
            <c:ext xmlns:c16="http://schemas.microsoft.com/office/drawing/2014/chart" uri="{C3380CC4-5D6E-409C-BE32-E72D297353CC}">
              <c16:uniqueId val="{00000001-2F96-4260-9377-CBDDE7AA29E2}"/>
            </c:ext>
          </c:extLst>
        </c:ser>
        <c:ser>
          <c:idx val="2"/>
          <c:order val="2"/>
          <c:tx>
            <c:strRef>
              <c:f>'churn &amp; active membership'!$F$4:$F$5</c:f>
              <c:strCache>
                <c:ptCount val="1"/>
                <c:pt idx="0">
                  <c:v>Spain</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cat>
            <c:strRef>
              <c:f>'churn &amp; active membership'!$C$6:$C$8</c:f>
              <c:strCache>
                <c:ptCount val="2"/>
                <c:pt idx="0">
                  <c:v>0</c:v>
                </c:pt>
                <c:pt idx="1">
                  <c:v>1</c:v>
                </c:pt>
              </c:strCache>
            </c:strRef>
          </c:cat>
          <c:val>
            <c:numRef>
              <c:f>'churn &amp; active membership'!$F$6:$F$8</c:f>
              <c:numCache>
                <c:formatCode>General</c:formatCode>
                <c:ptCount val="2"/>
                <c:pt idx="0">
                  <c:v>272</c:v>
                </c:pt>
                <c:pt idx="1">
                  <c:v>141</c:v>
                </c:pt>
              </c:numCache>
            </c:numRef>
          </c:val>
          <c:extLst>
            <c:ext xmlns:c16="http://schemas.microsoft.com/office/drawing/2014/chart" uri="{C3380CC4-5D6E-409C-BE32-E72D297353CC}">
              <c16:uniqueId val="{00000002-2F96-4260-9377-CBDDE7AA29E2}"/>
            </c:ext>
          </c:extLst>
        </c:ser>
        <c:dLbls>
          <c:showLegendKey val="0"/>
          <c:showVal val="0"/>
          <c:showCatName val="0"/>
          <c:showSerName val="0"/>
          <c:showPercent val="0"/>
          <c:showBubbleSize val="0"/>
        </c:dLbls>
        <c:gapWidth val="100"/>
        <c:overlap val="-24"/>
        <c:axId val="217559327"/>
        <c:axId val="217555487"/>
      </c:barChart>
      <c:catAx>
        <c:axId val="21755932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7555487"/>
        <c:crosses val="autoZero"/>
        <c:auto val="1"/>
        <c:lblAlgn val="ctr"/>
        <c:lblOffset val="100"/>
        <c:noMultiLvlLbl val="0"/>
      </c:catAx>
      <c:valAx>
        <c:axId val="21755548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175593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[Churn_Modelling (version 1).xlsb] Estimated Salary Impact!PivotTable13</c:name>
    <c:fmtId val="65"/>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Estimated Salary Vs Customer Churn(Tenurewise)</a:t>
            </a:r>
          </a:p>
        </c:rich>
      </c:tx>
      <c:layout>
        <c:manualLayout>
          <c:xMode val="edge"/>
          <c:yMode val="edge"/>
          <c:x val="0.12257113975482227"/>
          <c:y val="7.8711409704674107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1"/>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dLbl>
          <c:idx val="0"/>
          <c:showLegendKey val="0"/>
          <c:showVal val="1"/>
          <c:showCatName val="0"/>
          <c:showSerName val="0"/>
          <c:showPercent val="0"/>
          <c:showBubbleSize val="0"/>
          <c:extLst>
            <c:ext xmlns:c15="http://schemas.microsoft.com/office/drawing/2012/chart" uri="{CE6537A1-D6FC-4f65-9D91-7224C49458BB}"/>
          </c:extLst>
        </c:dLbl>
      </c:pivotFmt>
      <c:pivotFmt>
        <c:idx val="4"/>
        <c:dLbl>
          <c:idx val="0"/>
          <c:showLegendKey val="0"/>
          <c:showVal val="1"/>
          <c:showCatName val="0"/>
          <c:showSerName val="0"/>
          <c:showPercent val="0"/>
          <c:showBubbleSize val="0"/>
          <c:extLst>
            <c:ext xmlns:c15="http://schemas.microsoft.com/office/drawing/2012/chart" uri="{CE6537A1-D6FC-4f65-9D91-7224C49458BB}"/>
          </c:extLst>
        </c:dLbl>
      </c:pivotFmt>
      <c:pivotFmt>
        <c:idx val="5"/>
        <c:dLbl>
          <c:idx val="0"/>
          <c:showLegendKey val="0"/>
          <c:showVal val="1"/>
          <c:showCatName val="0"/>
          <c:showSerName val="0"/>
          <c:showPercent val="0"/>
          <c:showBubbleSize val="0"/>
          <c:extLst>
            <c:ext xmlns:c15="http://schemas.microsoft.com/office/drawing/2012/chart" uri="{CE6537A1-D6FC-4f65-9D91-7224C49458BB}"/>
          </c:extLst>
        </c:dLbl>
      </c:pivotFmt>
      <c:pivotFmt>
        <c:idx val="6"/>
        <c:dLbl>
          <c:idx val="0"/>
          <c:showLegendKey val="0"/>
          <c:showVal val="1"/>
          <c:showCatName val="0"/>
          <c:showSerName val="0"/>
          <c:showPercent val="0"/>
          <c:showBubbleSize val="0"/>
          <c:extLst>
            <c:ext xmlns:c15="http://schemas.microsoft.com/office/drawing/2012/chart" uri="{CE6537A1-D6FC-4f65-9D91-7224C49458BB}"/>
          </c:extLst>
        </c:dLbl>
      </c:pivotFmt>
      <c:pivotFmt>
        <c:idx val="7"/>
        <c:dLbl>
          <c:idx val="0"/>
          <c:showLegendKey val="0"/>
          <c:showVal val="1"/>
          <c:showCatName val="0"/>
          <c:showSerName val="0"/>
          <c:showPercent val="0"/>
          <c:showBubbleSize val="0"/>
          <c:extLst>
            <c:ext xmlns:c15="http://schemas.microsoft.com/office/drawing/2012/chart" uri="{CE6537A1-D6FC-4f65-9D91-7224C49458BB}"/>
          </c:extLst>
        </c:dLbl>
      </c:pivotFmt>
      <c:pivotFmt>
        <c:idx val="8"/>
        <c:dLbl>
          <c:idx val="0"/>
          <c:showLegendKey val="0"/>
          <c:showVal val="1"/>
          <c:showCatName val="0"/>
          <c:showSerName val="0"/>
          <c:showPercent val="0"/>
          <c:showBubbleSize val="0"/>
          <c:extLst>
            <c:ext xmlns:c15="http://schemas.microsoft.com/office/drawing/2012/chart" uri="{CE6537A1-D6FC-4f65-9D91-7224C49458BB}"/>
          </c:extLst>
        </c:dLbl>
      </c:pivotFmt>
      <c:pivotFmt>
        <c:idx val="9"/>
        <c:dLbl>
          <c:idx val="0"/>
          <c:showLegendKey val="0"/>
          <c:showVal val="1"/>
          <c:showCatName val="0"/>
          <c:showSerName val="0"/>
          <c:showPercent val="0"/>
          <c:showBubbleSize val="0"/>
          <c:extLst>
            <c:ext xmlns:c15="http://schemas.microsoft.com/office/drawing/2012/chart" uri="{CE6537A1-D6FC-4f65-9D91-7224C49458BB}"/>
          </c:extLst>
        </c:dLbl>
      </c:pivotFmt>
      <c:pivotFmt>
        <c:idx val="10"/>
        <c:dLbl>
          <c:idx val="0"/>
          <c:showLegendKey val="0"/>
          <c:showVal val="1"/>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2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2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2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2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1"/>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2"/>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3"/>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4"/>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5"/>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7"/>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8"/>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39"/>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1"/>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7"/>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8"/>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49"/>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1"/>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2"/>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3"/>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4"/>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5"/>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7"/>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8"/>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59"/>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1"/>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2"/>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3"/>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4"/>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5"/>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6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7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7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7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7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7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7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7"/>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78"/>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79"/>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8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8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2"/>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83"/>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84"/>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85"/>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8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7"/>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88"/>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89"/>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9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9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9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9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9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9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7"/>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98"/>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99"/>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0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0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2"/>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03"/>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04"/>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05"/>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0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7"/>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08"/>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09"/>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1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2"/>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13"/>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14"/>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15"/>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7"/>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18"/>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19"/>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2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2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2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3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2"/>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33"/>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34"/>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35"/>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7"/>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38"/>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39"/>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4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2"/>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43"/>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44"/>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45"/>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7"/>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48"/>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49"/>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5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2"/>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53"/>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54"/>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55"/>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5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7"/>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58"/>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59"/>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6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6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2"/>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63"/>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64"/>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65"/>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6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7"/>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68"/>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69"/>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7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7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2"/>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73"/>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74"/>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
        <c:idx val="175"/>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pivotFmt>
    </c:pivotFmts>
    <c:plotArea>
      <c:layout>
        <c:manualLayout>
          <c:layoutTarget val="inner"/>
          <c:xMode val="edge"/>
          <c:yMode val="edge"/>
          <c:x val="6.3829294065514533E-2"/>
          <c:y val="0.21092638764334684"/>
          <c:w val="0.8073828271466067"/>
          <c:h val="0.61010909305923744"/>
        </c:manualLayout>
      </c:layout>
      <c:barChart>
        <c:barDir val="col"/>
        <c:grouping val="clustered"/>
        <c:varyColors val="0"/>
        <c:ser>
          <c:idx val="0"/>
          <c:order val="0"/>
          <c:tx>
            <c:strRef>
              <c:f>' Estimated Salary Impact'!$D$6:$D$7</c:f>
              <c:strCache>
                <c:ptCount val="1"/>
                <c:pt idx="0">
                  <c:v>0</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1-F911-4E3C-B628-0307DD259923}"/>
              </c:ext>
            </c:extLst>
          </c:dPt>
          <c:dPt>
            <c:idx val="1"/>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3-F911-4E3C-B628-0307DD259923}"/>
              </c:ext>
            </c:extLst>
          </c:dPt>
          <c:dPt>
            <c:idx val="2"/>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5-F911-4E3C-B628-0307DD259923}"/>
              </c:ext>
            </c:extLst>
          </c:dPt>
          <c:dPt>
            <c:idx val="3"/>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7-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Impact'!$D$8:$D$12</c:f>
              <c:numCache>
                <c:formatCode>General</c:formatCode>
                <c:ptCount val="4"/>
                <c:pt idx="0">
                  <c:v>6</c:v>
                </c:pt>
                <c:pt idx="1">
                  <c:v>4</c:v>
                </c:pt>
                <c:pt idx="2">
                  <c:v>4</c:v>
                </c:pt>
                <c:pt idx="3">
                  <c:v>4</c:v>
                </c:pt>
              </c:numCache>
            </c:numRef>
          </c:val>
          <c:extLst>
            <c:ext xmlns:c16="http://schemas.microsoft.com/office/drawing/2014/chart" uri="{C3380CC4-5D6E-409C-BE32-E72D297353CC}">
              <c16:uniqueId val="{00000008-F911-4E3C-B628-0307DD259923}"/>
            </c:ext>
          </c:extLst>
        </c:ser>
        <c:ser>
          <c:idx val="1"/>
          <c:order val="1"/>
          <c:tx>
            <c:strRef>
              <c:f>' Estimated Salary Impact'!$E$6:$E$7</c:f>
              <c:strCache>
                <c:ptCount val="1"/>
                <c:pt idx="0">
                  <c:v>1</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A-F911-4E3C-B628-0307DD259923}"/>
              </c:ext>
            </c:extLst>
          </c:dPt>
          <c:dPt>
            <c:idx val="1"/>
            <c:invertIfNegative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C-F911-4E3C-B628-0307DD259923}"/>
              </c:ext>
            </c:extLst>
          </c:dPt>
          <c:dPt>
            <c:idx val="2"/>
            <c:invertIfNegative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E-F911-4E3C-B628-0307DD259923}"/>
              </c:ext>
            </c:extLst>
          </c:dPt>
          <c:dPt>
            <c:idx val="3"/>
            <c:invertIfNegative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10-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Impact'!$E$8:$E$12</c:f>
              <c:numCache>
                <c:formatCode>General</c:formatCode>
                <c:ptCount val="4"/>
                <c:pt idx="0">
                  <c:v>15</c:v>
                </c:pt>
                <c:pt idx="1">
                  <c:v>15</c:v>
                </c:pt>
                <c:pt idx="2">
                  <c:v>8</c:v>
                </c:pt>
                <c:pt idx="3">
                  <c:v>8</c:v>
                </c:pt>
              </c:numCache>
            </c:numRef>
          </c:val>
          <c:extLst>
            <c:ext xmlns:c16="http://schemas.microsoft.com/office/drawing/2014/chart" uri="{C3380CC4-5D6E-409C-BE32-E72D297353CC}">
              <c16:uniqueId val="{00000011-F911-4E3C-B628-0307DD259923}"/>
            </c:ext>
          </c:extLst>
        </c:ser>
        <c:ser>
          <c:idx val="2"/>
          <c:order val="2"/>
          <c:tx>
            <c:strRef>
              <c:f>' Estimated Salary Impact'!$F$6:$F$7</c:f>
              <c:strCache>
                <c:ptCount val="1"/>
                <c:pt idx="0">
                  <c:v>2</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13-F911-4E3C-B628-0307DD259923}"/>
              </c:ext>
            </c:extLst>
          </c:dPt>
          <c:dPt>
            <c:idx val="1"/>
            <c:invertIfNegative val="0"/>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15-F911-4E3C-B628-0307DD259923}"/>
              </c:ext>
            </c:extLst>
          </c:dPt>
          <c:dPt>
            <c:idx val="2"/>
            <c:invertIfNegative val="0"/>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17-F911-4E3C-B628-0307DD259923}"/>
              </c:ext>
            </c:extLst>
          </c:dPt>
          <c:dPt>
            <c:idx val="3"/>
            <c:invertIfNegative val="0"/>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19-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Impact'!$F$8:$F$12</c:f>
              <c:numCache>
                <c:formatCode>General</c:formatCode>
                <c:ptCount val="4"/>
                <c:pt idx="0">
                  <c:v>6</c:v>
                </c:pt>
                <c:pt idx="1">
                  <c:v>12</c:v>
                </c:pt>
                <c:pt idx="2">
                  <c:v>6</c:v>
                </c:pt>
                <c:pt idx="3">
                  <c:v>6</c:v>
                </c:pt>
              </c:numCache>
            </c:numRef>
          </c:val>
          <c:extLst>
            <c:ext xmlns:c16="http://schemas.microsoft.com/office/drawing/2014/chart" uri="{C3380CC4-5D6E-409C-BE32-E72D297353CC}">
              <c16:uniqueId val="{0000001A-F911-4E3C-B628-0307DD259923}"/>
            </c:ext>
          </c:extLst>
        </c:ser>
        <c:ser>
          <c:idx val="3"/>
          <c:order val="3"/>
          <c:tx>
            <c:strRef>
              <c:f>' Estimated Salary Impact'!$G$6:$G$7</c:f>
              <c:strCache>
                <c:ptCount val="1"/>
                <c:pt idx="0">
                  <c:v>3</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1C-F911-4E3C-B628-0307DD259923}"/>
              </c:ext>
            </c:extLst>
          </c:dPt>
          <c:dPt>
            <c:idx val="1"/>
            <c:invertIfNegative val="0"/>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1E-F911-4E3C-B628-0307DD259923}"/>
              </c:ext>
            </c:extLst>
          </c:dPt>
          <c:dPt>
            <c:idx val="2"/>
            <c:invertIfNegative val="0"/>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20-F911-4E3C-B628-0307DD259923}"/>
              </c:ext>
            </c:extLst>
          </c:dPt>
          <c:dPt>
            <c:idx val="3"/>
            <c:invertIfNegative val="0"/>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22-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Impact'!$G$8:$G$12</c:f>
              <c:numCache>
                <c:formatCode>General</c:formatCode>
                <c:ptCount val="4"/>
                <c:pt idx="0">
                  <c:v>8</c:v>
                </c:pt>
                <c:pt idx="1">
                  <c:v>6</c:v>
                </c:pt>
                <c:pt idx="2">
                  <c:v>9</c:v>
                </c:pt>
                <c:pt idx="3">
                  <c:v>14</c:v>
                </c:pt>
              </c:numCache>
            </c:numRef>
          </c:val>
          <c:extLst>
            <c:ext xmlns:c16="http://schemas.microsoft.com/office/drawing/2014/chart" uri="{C3380CC4-5D6E-409C-BE32-E72D297353CC}">
              <c16:uniqueId val="{00000023-F911-4E3C-B628-0307DD259923}"/>
            </c:ext>
          </c:extLst>
        </c:ser>
        <c:ser>
          <c:idx val="4"/>
          <c:order val="4"/>
          <c:tx>
            <c:strRef>
              <c:f>' Estimated Salary Impact'!$H$6:$H$7</c:f>
              <c:strCache>
                <c:ptCount val="1"/>
                <c:pt idx="0">
                  <c:v>4</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25-F911-4E3C-B628-0307DD259923}"/>
              </c:ext>
            </c:extLst>
          </c:dPt>
          <c:dPt>
            <c:idx val="1"/>
            <c:invertIfNegative val="0"/>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27-F911-4E3C-B628-0307DD259923}"/>
              </c:ext>
            </c:extLst>
          </c:dPt>
          <c:dPt>
            <c:idx val="2"/>
            <c:invertIfNegative val="0"/>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29-F911-4E3C-B628-0307DD259923}"/>
              </c:ext>
            </c:extLst>
          </c:dPt>
          <c:dPt>
            <c:idx val="3"/>
            <c:invertIfNegative val="0"/>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2B-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Impact'!$H$8:$H$12</c:f>
              <c:numCache>
                <c:formatCode>General</c:formatCode>
                <c:ptCount val="4"/>
                <c:pt idx="0">
                  <c:v>7</c:v>
                </c:pt>
                <c:pt idx="1">
                  <c:v>10</c:v>
                </c:pt>
                <c:pt idx="2">
                  <c:v>12</c:v>
                </c:pt>
                <c:pt idx="3">
                  <c:v>7</c:v>
                </c:pt>
              </c:numCache>
            </c:numRef>
          </c:val>
          <c:extLst>
            <c:ext xmlns:c16="http://schemas.microsoft.com/office/drawing/2014/chart" uri="{C3380CC4-5D6E-409C-BE32-E72D297353CC}">
              <c16:uniqueId val="{0000002C-F911-4E3C-B628-0307DD259923}"/>
            </c:ext>
          </c:extLst>
        </c:ser>
        <c:ser>
          <c:idx val="5"/>
          <c:order val="5"/>
          <c:tx>
            <c:strRef>
              <c:f>' Estimated Salary Impact'!$I$6:$I$7</c:f>
              <c:strCache>
                <c:ptCount val="1"/>
                <c:pt idx="0">
                  <c:v>5</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2E-F911-4E3C-B628-0307DD259923}"/>
              </c:ext>
            </c:extLst>
          </c:dPt>
          <c:dPt>
            <c:idx val="1"/>
            <c:invertIfNegative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30-F911-4E3C-B628-0307DD259923}"/>
              </c:ext>
            </c:extLst>
          </c:dPt>
          <c:dPt>
            <c:idx val="2"/>
            <c:invertIfNegative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32-F911-4E3C-B628-0307DD259923}"/>
              </c:ext>
            </c:extLst>
          </c:dPt>
          <c:dPt>
            <c:idx val="3"/>
            <c:invertIfNegative val="0"/>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34-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Impact'!$I$8:$I$12</c:f>
              <c:numCache>
                <c:formatCode>General</c:formatCode>
                <c:ptCount val="4"/>
                <c:pt idx="0">
                  <c:v>11</c:v>
                </c:pt>
                <c:pt idx="1">
                  <c:v>5</c:v>
                </c:pt>
                <c:pt idx="2">
                  <c:v>7</c:v>
                </c:pt>
                <c:pt idx="3">
                  <c:v>9</c:v>
                </c:pt>
              </c:numCache>
            </c:numRef>
          </c:val>
          <c:extLst>
            <c:ext xmlns:c16="http://schemas.microsoft.com/office/drawing/2014/chart" uri="{C3380CC4-5D6E-409C-BE32-E72D297353CC}">
              <c16:uniqueId val="{00000035-F911-4E3C-B628-0307DD259923}"/>
            </c:ext>
          </c:extLst>
        </c:ser>
        <c:ser>
          <c:idx val="6"/>
          <c:order val="6"/>
          <c:tx>
            <c:strRef>
              <c:f>' Estimated Salary Impact'!$J$6:$J$7</c:f>
              <c:strCache>
                <c:ptCount val="1"/>
                <c:pt idx="0">
                  <c:v>6</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37-F911-4E3C-B628-0307DD259923}"/>
              </c:ext>
            </c:extLst>
          </c:dPt>
          <c:dPt>
            <c:idx val="1"/>
            <c:invertIfNegative val="0"/>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39-F911-4E3C-B628-0307DD259923}"/>
              </c:ext>
            </c:extLst>
          </c:dPt>
          <c:dPt>
            <c:idx val="2"/>
            <c:invertIfNegative val="0"/>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3B-F911-4E3C-B628-0307DD259923}"/>
              </c:ext>
            </c:extLst>
          </c:dPt>
          <c:dPt>
            <c:idx val="3"/>
            <c:invertIfNegative val="0"/>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3D-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Impact'!$J$8:$J$12</c:f>
              <c:numCache>
                <c:formatCode>General</c:formatCode>
                <c:ptCount val="4"/>
                <c:pt idx="0">
                  <c:v>9</c:v>
                </c:pt>
                <c:pt idx="1">
                  <c:v>7</c:v>
                </c:pt>
                <c:pt idx="2">
                  <c:v>19</c:v>
                </c:pt>
                <c:pt idx="3">
                  <c:v>11</c:v>
                </c:pt>
              </c:numCache>
            </c:numRef>
          </c:val>
          <c:extLst>
            <c:ext xmlns:c16="http://schemas.microsoft.com/office/drawing/2014/chart" uri="{C3380CC4-5D6E-409C-BE32-E72D297353CC}">
              <c16:uniqueId val="{0000003E-F911-4E3C-B628-0307DD259923}"/>
            </c:ext>
          </c:extLst>
        </c:ser>
        <c:ser>
          <c:idx val="7"/>
          <c:order val="7"/>
          <c:tx>
            <c:strRef>
              <c:f>' Estimated Salary Impact'!$K$6:$K$7</c:f>
              <c:strCache>
                <c:ptCount val="1"/>
                <c:pt idx="0">
                  <c:v>7</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40-F911-4E3C-B628-0307DD259923}"/>
              </c:ext>
            </c:extLst>
          </c:dPt>
          <c:dPt>
            <c:idx val="1"/>
            <c:invertIfNegative val="0"/>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42-F911-4E3C-B628-0307DD259923}"/>
              </c:ext>
            </c:extLst>
          </c:dPt>
          <c:dPt>
            <c:idx val="2"/>
            <c:invertIfNegative val="0"/>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44-F911-4E3C-B628-0307DD259923}"/>
              </c:ext>
            </c:extLst>
          </c:dPt>
          <c:dPt>
            <c:idx val="3"/>
            <c:invertIfNegative val="0"/>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46-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Impact'!$K$8:$K$12</c:f>
              <c:numCache>
                <c:formatCode>General</c:formatCode>
                <c:ptCount val="4"/>
                <c:pt idx="0">
                  <c:v>6</c:v>
                </c:pt>
                <c:pt idx="1">
                  <c:v>8</c:v>
                </c:pt>
                <c:pt idx="2">
                  <c:v>6</c:v>
                </c:pt>
                <c:pt idx="3">
                  <c:v>10</c:v>
                </c:pt>
              </c:numCache>
            </c:numRef>
          </c:val>
          <c:extLst>
            <c:ext xmlns:c16="http://schemas.microsoft.com/office/drawing/2014/chart" uri="{C3380CC4-5D6E-409C-BE32-E72D297353CC}">
              <c16:uniqueId val="{00000047-F911-4E3C-B628-0307DD259923}"/>
            </c:ext>
          </c:extLst>
        </c:ser>
        <c:ser>
          <c:idx val="8"/>
          <c:order val="8"/>
          <c:tx>
            <c:strRef>
              <c:f>' Estimated Salary Impact'!$L$6:$L$7</c:f>
              <c:strCache>
                <c:ptCount val="1"/>
                <c:pt idx="0">
                  <c:v>8</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49-F911-4E3C-B628-0307DD259923}"/>
              </c:ext>
            </c:extLst>
          </c:dPt>
          <c:dPt>
            <c:idx val="1"/>
            <c:invertIfNegative val="0"/>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4B-F911-4E3C-B628-0307DD259923}"/>
              </c:ext>
            </c:extLst>
          </c:dPt>
          <c:dPt>
            <c:idx val="2"/>
            <c:invertIfNegative val="0"/>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4D-F911-4E3C-B628-0307DD259923}"/>
              </c:ext>
            </c:extLst>
          </c:dPt>
          <c:dPt>
            <c:idx val="3"/>
            <c:invertIfNegative val="0"/>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4F-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Impact'!$L$8:$L$12</c:f>
              <c:numCache>
                <c:formatCode>General</c:formatCode>
                <c:ptCount val="4"/>
                <c:pt idx="0">
                  <c:v>6</c:v>
                </c:pt>
                <c:pt idx="1">
                  <c:v>9</c:v>
                </c:pt>
                <c:pt idx="2">
                  <c:v>9</c:v>
                </c:pt>
                <c:pt idx="3">
                  <c:v>12</c:v>
                </c:pt>
              </c:numCache>
            </c:numRef>
          </c:val>
          <c:extLst>
            <c:ext xmlns:c16="http://schemas.microsoft.com/office/drawing/2014/chart" uri="{C3380CC4-5D6E-409C-BE32-E72D297353CC}">
              <c16:uniqueId val="{00000050-F911-4E3C-B628-0307DD259923}"/>
            </c:ext>
          </c:extLst>
        </c:ser>
        <c:ser>
          <c:idx val="9"/>
          <c:order val="9"/>
          <c:tx>
            <c:strRef>
              <c:f>' Estimated Salary Impact'!$M$6:$M$7</c:f>
              <c:strCache>
                <c:ptCount val="1"/>
                <c:pt idx="0">
                  <c:v>9</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52-F911-4E3C-B628-0307DD259923}"/>
              </c:ext>
            </c:extLst>
          </c:dPt>
          <c:dPt>
            <c:idx val="1"/>
            <c:invertIfNegative val="0"/>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54-F911-4E3C-B628-0307DD259923}"/>
              </c:ext>
            </c:extLst>
          </c:dPt>
          <c:dPt>
            <c:idx val="2"/>
            <c:invertIfNegative val="0"/>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56-F911-4E3C-B628-0307DD259923}"/>
              </c:ext>
            </c:extLst>
          </c:dPt>
          <c:dPt>
            <c:idx val="3"/>
            <c:invertIfNegative val="0"/>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58-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Impact'!$M$8:$M$12</c:f>
              <c:numCache>
                <c:formatCode>General</c:formatCode>
                <c:ptCount val="4"/>
                <c:pt idx="0">
                  <c:v>8</c:v>
                </c:pt>
                <c:pt idx="1">
                  <c:v>9</c:v>
                </c:pt>
                <c:pt idx="2">
                  <c:v>8</c:v>
                </c:pt>
                <c:pt idx="3">
                  <c:v>11</c:v>
                </c:pt>
              </c:numCache>
            </c:numRef>
          </c:val>
          <c:extLst>
            <c:ext xmlns:c16="http://schemas.microsoft.com/office/drawing/2014/chart" uri="{C3380CC4-5D6E-409C-BE32-E72D297353CC}">
              <c16:uniqueId val="{00000059-F911-4E3C-B628-0307DD259923}"/>
            </c:ext>
          </c:extLst>
        </c:ser>
        <c:ser>
          <c:idx val="10"/>
          <c:order val="10"/>
          <c:tx>
            <c:strRef>
              <c:f>' Estimated Salary Impact'!$N$6:$N$7</c:f>
              <c:strCache>
                <c:ptCount val="1"/>
                <c:pt idx="0">
                  <c:v>10</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invertIfNegative val="0"/>
          <c:dPt>
            <c:idx val="0"/>
            <c:invertIfNegative val="0"/>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5B-F911-4E3C-B628-0307DD259923}"/>
              </c:ext>
            </c:extLst>
          </c:dPt>
          <c:dPt>
            <c:idx val="1"/>
            <c:invertIfNegative val="0"/>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5D-F911-4E3C-B628-0307DD259923}"/>
              </c:ext>
            </c:extLst>
          </c:dPt>
          <c:dPt>
            <c:idx val="2"/>
            <c:invertIfNegative val="0"/>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5F-F911-4E3C-B628-0307DD259923}"/>
              </c:ext>
            </c:extLst>
          </c:dPt>
          <c:dPt>
            <c:idx val="3"/>
            <c:invertIfNegative val="0"/>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61-F911-4E3C-B628-0307DD259923}"/>
              </c:ext>
            </c:extLst>
          </c:dPt>
          <c:cat>
            <c:strRef>
              <c:f>' Estimated Salary Impact'!$C$8:$C$12</c:f>
              <c:strCache>
                <c:ptCount val="4"/>
                <c:pt idx="0">
                  <c:v>0-50000</c:v>
                </c:pt>
                <c:pt idx="1">
                  <c:v>100000-150000</c:v>
                </c:pt>
                <c:pt idx="2">
                  <c:v>150000-200000</c:v>
                </c:pt>
                <c:pt idx="3">
                  <c:v>50000-100000</c:v>
                </c:pt>
              </c:strCache>
            </c:strRef>
          </c:cat>
          <c:val>
            <c:numRef>
              <c:f>' Estimated Salary Impact'!$N$8:$N$12</c:f>
              <c:numCache>
                <c:formatCode>General</c:formatCode>
                <c:ptCount val="4"/>
                <c:pt idx="0">
                  <c:v>5</c:v>
                </c:pt>
                <c:pt idx="1">
                  <c:v>9</c:v>
                </c:pt>
                <c:pt idx="2">
                  <c:v>4</c:v>
                </c:pt>
                <c:pt idx="3">
                  <c:v>5</c:v>
                </c:pt>
              </c:numCache>
            </c:numRef>
          </c:val>
          <c:extLst>
            <c:ext xmlns:c16="http://schemas.microsoft.com/office/drawing/2014/chart" uri="{C3380CC4-5D6E-409C-BE32-E72D297353CC}">
              <c16:uniqueId val="{00000062-F911-4E3C-B628-0307DD259923}"/>
            </c:ext>
          </c:extLst>
        </c:ser>
        <c:dLbls>
          <c:showLegendKey val="0"/>
          <c:showVal val="0"/>
          <c:showCatName val="0"/>
          <c:showSerName val="0"/>
          <c:showPercent val="0"/>
          <c:showBubbleSize val="0"/>
        </c:dLbls>
        <c:gapWidth val="100"/>
        <c:axId val="1465602496"/>
        <c:axId val="1465604416"/>
      </c:barChart>
      <c:catAx>
        <c:axId val="1465602496"/>
        <c:scaling>
          <c:orientation val="minMax"/>
        </c:scaling>
        <c:delete val="0"/>
        <c:axPos val="b"/>
        <c:numFmt formatCode="General" sourceLinked="1"/>
        <c:majorTickMark val="out"/>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65604416"/>
        <c:crosses val="autoZero"/>
        <c:auto val="1"/>
        <c:lblAlgn val="ctr"/>
        <c:lblOffset val="100"/>
        <c:noMultiLvlLbl val="0"/>
      </c:catAx>
      <c:valAx>
        <c:axId val="1465604416"/>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656024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84401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3" name="Content Placeholder 2"/>
          <p:cNvSpPr>
            <a:spLocks noGrp="1"/>
          </p:cNvSpPr>
          <p:nvPr>
            <p:ph idx="1"/>
          </p:nvPr>
        </p:nvSpPr>
        <p:spPr>
          <a:xfrm>
            <a:off x="533400" y="533400"/>
            <a:ext cx="6554867" cy="376767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6012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68959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1519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4560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2269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120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2708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a:t>Click to edit Master title style</a:t>
            </a:r>
            <a:endParaRPr lang="en-US" dirty="0"/>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8/9/2025</a:t>
            </a:fld>
            <a:endParaRPr lang="en-US"/>
          </a:p>
        </p:txBody>
      </p:sp>
      <p:sp>
        <p:nvSpPr>
          <p:cNvPr id="6" name="Footer Placeholder 5"/>
          <p:cNvSpPr>
            <a:spLocks noGrp="1"/>
          </p:cNvSpPr>
          <p:nvPr>
            <p:ph type="ftr" sz="quarter" idx="11"/>
          </p:nvPr>
        </p:nvSpPr>
        <p:spPr>
          <a:xfrm>
            <a:off x="533400" y="6172200"/>
            <a:ext cx="5811724" cy="365125"/>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1931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866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02583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132695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17964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2143160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54631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79709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0801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BCAD085-E8A6-8845-BD4E-CB4CCA059FC4}" type="datetimeFigureOut">
              <a:rPr lang="en-US" smtClean="0"/>
              <a:t>8/9/2025</a:t>
            </a:fld>
            <a:endParaRPr lang="en-US"/>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3552861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C5F510-E89B-DEA4-FBE8-53B36FEA90D3}"/>
              </a:ext>
            </a:extLst>
          </p:cNvPr>
          <p:cNvSpPr>
            <a:spLocks noGrp="1"/>
          </p:cNvSpPr>
          <p:nvPr>
            <p:ph type="title"/>
          </p:nvPr>
        </p:nvSpPr>
        <p:spPr>
          <a:xfrm>
            <a:off x="313268" y="533400"/>
            <a:ext cx="8593666" cy="2413000"/>
          </a:xfrm>
        </p:spPr>
        <p:txBody>
          <a:bodyPr>
            <a:normAutofit/>
          </a:bodyPr>
          <a:lstStyle/>
          <a:p>
            <a:pPr marL="0" indent="0" algn="ctr"/>
            <a:r>
              <a:rPr lang="en-US" sz="4000" b="1" dirty="0">
                <a:solidFill>
                  <a:srgbClr val="FF0000"/>
                </a:solidFill>
                <a:latin typeface="Cambria" panose="02040503050406030204" pitchFamily="18" charset="0"/>
                <a:ea typeface="Cambria" panose="02040503050406030204" pitchFamily="18" charset="0"/>
              </a:rPr>
              <a:t>CUSTOMER CHURNS IN BANKS</a:t>
            </a:r>
            <a:br>
              <a:rPr lang="en-US" sz="4000" b="1" dirty="0">
                <a:solidFill>
                  <a:srgbClr val="FF0000"/>
                </a:solidFill>
                <a:latin typeface="Cambria" panose="02040503050406030204" pitchFamily="18" charset="0"/>
                <a:ea typeface="Cambria" panose="02040503050406030204" pitchFamily="18" charset="0"/>
              </a:rPr>
            </a:br>
            <a:r>
              <a:rPr lang="en-US" sz="4000" b="1" dirty="0">
                <a:solidFill>
                  <a:srgbClr val="FF0000"/>
                </a:solidFill>
                <a:latin typeface="Cambria" panose="02040503050406030204" pitchFamily="18" charset="0"/>
                <a:ea typeface="Cambria" panose="02040503050406030204" pitchFamily="18" charset="0"/>
              </a:rPr>
              <a:t>Causes, Impacts, and Solutions</a:t>
            </a:r>
            <a:br>
              <a:rPr lang="en-US" sz="4000" b="1" dirty="0">
                <a:solidFill>
                  <a:srgbClr val="FF0000"/>
                </a:solidFill>
                <a:latin typeface="Cambria" panose="02040503050406030204" pitchFamily="18" charset="0"/>
                <a:ea typeface="Cambria" panose="02040503050406030204" pitchFamily="18" charset="0"/>
              </a:rPr>
            </a:br>
            <a:endParaRPr lang="en-IN" sz="4000" dirty="0"/>
          </a:p>
        </p:txBody>
      </p:sp>
      <p:sp>
        <p:nvSpPr>
          <p:cNvPr id="3" name="Content Placeholder 2"/>
          <p:cNvSpPr>
            <a:spLocks noGrp="1"/>
          </p:cNvSpPr>
          <p:nvPr>
            <p:ph idx="4294967295"/>
          </p:nvPr>
        </p:nvSpPr>
        <p:spPr>
          <a:xfrm>
            <a:off x="0" y="364067"/>
            <a:ext cx="8974667" cy="6189133"/>
          </a:xfrm>
          <a:ln>
            <a:gradFill>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a:normAutofit/>
          </a:bodyPr>
          <a:lstStyle/>
          <a:p>
            <a:pPr marL="0" indent="0">
              <a:buNone/>
            </a:pPr>
            <a:endParaRPr lang="en-IN" dirty="0"/>
          </a:p>
          <a:p>
            <a:pPr marL="0" indent="0">
              <a:buNone/>
            </a:pPr>
            <a:endParaRPr lang="en-IN" dirty="0"/>
          </a:p>
          <a:p>
            <a:pPr marL="0" indent="0">
              <a:buNone/>
            </a:pPr>
            <a:endParaRPr lang="en-IN" sz="1800" dirty="0"/>
          </a:p>
          <a:p>
            <a:pPr marL="0" indent="0">
              <a:buNone/>
            </a:pPr>
            <a:endParaRPr lang="en-IN" dirty="0"/>
          </a:p>
          <a:p>
            <a:pPr marL="0" indent="0">
              <a:buNone/>
            </a:pPr>
            <a:endParaRPr lang="en-IN" dirty="0"/>
          </a:p>
          <a:p>
            <a:pPr marL="0" indent="0" algn="ctr">
              <a:buNone/>
            </a:pPr>
            <a:r>
              <a:rPr lang="en-IN" dirty="0"/>
              <a:t>			               </a:t>
            </a:r>
            <a:r>
              <a:rPr lang="en-IN" sz="3200" u="sng" dirty="0"/>
              <a:t>Tools Used:- Ms Excel</a:t>
            </a:r>
            <a:r>
              <a:rPr lang="en-IN" sz="3200" dirty="0"/>
              <a:t>			</a:t>
            </a:r>
            <a:r>
              <a:rPr lang="en-IN" dirty="0"/>
              <a:t>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t>
            </a:r>
            <a:r>
              <a:rPr lang="en-IN" b="1" dirty="0"/>
              <a:t>	</a:t>
            </a:r>
            <a:r>
              <a:rPr b="1" dirty="0">
                <a:solidFill>
                  <a:schemeClr val="bg1">
                    <a:lumMod val="85000"/>
                    <a:lumOff val="15000"/>
                  </a:schemeClr>
                </a:solidFill>
              </a:rPr>
              <a:t>Presented by: </a:t>
            </a:r>
            <a:r>
              <a:rPr lang="en-IN" b="1" dirty="0">
                <a:solidFill>
                  <a:schemeClr val="bg1">
                    <a:lumMod val="85000"/>
                    <a:lumOff val="15000"/>
                  </a:schemeClr>
                </a:solidFill>
              </a:rPr>
              <a:t>Falguni </a:t>
            </a:r>
            <a:r>
              <a:rPr lang="en-IN" b="1" dirty="0" err="1">
                <a:solidFill>
                  <a:schemeClr val="bg1">
                    <a:lumMod val="85000"/>
                    <a:lumOff val="15000"/>
                  </a:schemeClr>
                </a:solidFill>
              </a:rPr>
              <a:t>Fadnis</a:t>
            </a:r>
            <a:endParaRPr lang="en-IN" b="1" dirty="0">
              <a:solidFill>
                <a:schemeClr val="bg1">
                  <a:lumMod val="85000"/>
                  <a:lumOff val="15000"/>
                </a:schemeClr>
              </a:solidFill>
            </a:endParaRPr>
          </a:p>
          <a:p>
            <a:pPr marL="0" indent="0">
              <a:buNone/>
            </a:pPr>
            <a:r>
              <a:rPr lang="en-IN" b="1" dirty="0">
                <a:solidFill>
                  <a:schemeClr val="bg1">
                    <a:lumMod val="85000"/>
                    <a:lumOff val="15000"/>
                  </a:schemeClr>
                </a:solidFill>
              </a:rPr>
              <a:t>											Submitted to: Jayesh Patil Sir</a:t>
            </a:r>
            <a:endParaRPr b="1" dirty="0">
              <a:solidFill>
                <a:schemeClr val="bg1">
                  <a:lumMod val="85000"/>
                  <a:lumOff val="1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7868" y="423334"/>
            <a:ext cx="8586866" cy="1524000"/>
          </a:xfrm>
          <a:noFill/>
        </p:spPr>
        <p:txBody>
          <a:bodyPr>
            <a:normAutofit/>
          </a:bodyPr>
          <a:lstStyle/>
          <a:p>
            <a:pPr algn="ctr"/>
            <a:r>
              <a:rPr sz="4800" dirty="0">
                <a:solidFill>
                  <a:schemeClr val="accent6">
                    <a:lumMod val="60000"/>
                    <a:lumOff val="40000"/>
                  </a:schemeClr>
                </a:solidFill>
              </a:rPr>
              <a:t>Objectives</a:t>
            </a:r>
            <a:r>
              <a:rPr lang="en-US" sz="4800" dirty="0">
                <a:solidFill>
                  <a:schemeClr val="accent6">
                    <a:lumMod val="60000"/>
                    <a:lumOff val="40000"/>
                  </a:schemeClr>
                </a:solidFill>
              </a:rPr>
              <a:t> of study</a:t>
            </a:r>
            <a:endParaRPr sz="4800" dirty="0">
              <a:solidFill>
                <a:schemeClr val="accent6">
                  <a:lumMod val="60000"/>
                  <a:lumOff val="40000"/>
                </a:schemeClr>
              </a:solidFill>
            </a:endParaRPr>
          </a:p>
        </p:txBody>
      </p:sp>
      <p:sp>
        <p:nvSpPr>
          <p:cNvPr id="3" name="Content Placeholder 2"/>
          <p:cNvSpPr>
            <a:spLocks noGrp="1"/>
          </p:cNvSpPr>
          <p:nvPr>
            <p:ph idx="1"/>
          </p:nvPr>
        </p:nvSpPr>
        <p:spPr>
          <a:xfrm>
            <a:off x="279400" y="2582333"/>
            <a:ext cx="8119533" cy="3767670"/>
          </a:xfrm>
          <a:noFill/>
        </p:spPr>
        <p:txBody>
          <a:bodyPr>
            <a:normAutofit/>
          </a:bodyPr>
          <a:lstStyle/>
          <a:p>
            <a:r>
              <a:rPr sz="2400" dirty="0"/>
              <a:t> Understand </a:t>
            </a:r>
            <a:r>
              <a:rPr lang="en-US" sz="2400" dirty="0"/>
              <a:t>customer </a:t>
            </a:r>
            <a:r>
              <a:rPr sz="2400" dirty="0"/>
              <a:t>churn</a:t>
            </a:r>
            <a:endParaRPr lang="en-US" sz="2400" dirty="0"/>
          </a:p>
          <a:p>
            <a:r>
              <a:rPr lang="en-IN" sz="2400" dirty="0"/>
              <a:t>Finding out </a:t>
            </a:r>
            <a:r>
              <a:rPr lang="en-US" sz="2400" dirty="0"/>
              <a:t>causes</a:t>
            </a:r>
          </a:p>
          <a:p>
            <a:r>
              <a:rPr sz="2400" dirty="0"/>
              <a:t>Analyze impact on banks</a:t>
            </a:r>
          </a:p>
          <a:p>
            <a:r>
              <a:rPr sz="2400" dirty="0"/>
              <a:t>Suggest strategies to reduce </a:t>
            </a:r>
            <a:r>
              <a:rPr lang="en-US" sz="2400" dirty="0"/>
              <a:t>customer </a:t>
            </a:r>
            <a:r>
              <a:rPr sz="2400" dirty="0"/>
              <a:t>churn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389466"/>
            <a:ext cx="7520067" cy="1524000"/>
          </a:xfrm>
        </p:spPr>
        <p:txBody>
          <a:bodyPr>
            <a:normAutofit/>
          </a:bodyPr>
          <a:lstStyle/>
          <a:p>
            <a:r>
              <a:rPr sz="4000" dirty="0">
                <a:solidFill>
                  <a:schemeClr val="accent6">
                    <a:lumMod val="60000"/>
                    <a:lumOff val="40000"/>
                  </a:schemeClr>
                </a:solidFill>
              </a:rPr>
              <a:t>What is Customer Churn?</a:t>
            </a:r>
          </a:p>
        </p:txBody>
      </p:sp>
      <p:sp>
        <p:nvSpPr>
          <p:cNvPr id="3" name="Content Placeholder 2"/>
          <p:cNvSpPr>
            <a:spLocks noGrp="1"/>
          </p:cNvSpPr>
          <p:nvPr>
            <p:ph idx="1"/>
          </p:nvPr>
        </p:nvSpPr>
        <p:spPr>
          <a:xfrm>
            <a:off x="287866" y="3175000"/>
            <a:ext cx="8441267" cy="2836335"/>
          </a:xfrm>
          <a:noFill/>
        </p:spPr>
        <p:txBody>
          <a:bodyPr>
            <a:normAutofit/>
          </a:bodyPr>
          <a:lstStyle/>
          <a:p>
            <a:pPr marL="0" indent="0">
              <a:buNone/>
            </a:pPr>
            <a:r>
              <a:rPr lang="en-IN" dirty="0">
                <a:solidFill>
                  <a:schemeClr val="accent6"/>
                </a:solidFill>
              </a:rPr>
              <a:t>   </a:t>
            </a:r>
            <a:r>
              <a:rPr lang="en-IN" sz="2400" dirty="0">
                <a:solidFill>
                  <a:schemeClr val="bg1">
                    <a:lumMod val="85000"/>
                    <a:lumOff val="15000"/>
                  </a:schemeClr>
                </a:solidFill>
              </a:rPr>
              <a:t>Types of Churn:-</a:t>
            </a:r>
            <a:endParaRPr lang="en-US" sz="2400" dirty="0">
              <a:solidFill>
                <a:schemeClr val="bg1">
                  <a:lumMod val="85000"/>
                  <a:lumOff val="15000"/>
                </a:schemeClr>
              </a:solidFill>
            </a:endParaRPr>
          </a:p>
          <a:p>
            <a:r>
              <a:rPr dirty="0">
                <a:solidFill>
                  <a:srgbClr val="C00000"/>
                </a:solidFill>
              </a:rPr>
              <a:t>Voluntary: </a:t>
            </a:r>
            <a:r>
              <a:rPr dirty="0"/>
              <a:t>Customer chooses to leave</a:t>
            </a:r>
            <a:endParaRPr lang="en-US" dirty="0"/>
          </a:p>
          <a:p>
            <a:pPr marL="0" indent="0">
              <a:buNone/>
            </a:pPr>
            <a:r>
              <a:rPr lang="en-US" sz="1800" dirty="0">
                <a:solidFill>
                  <a:srgbClr val="C00000"/>
                </a:solidFill>
              </a:rPr>
              <a:t>     </a:t>
            </a:r>
            <a:r>
              <a:rPr lang="en-US" sz="1800" dirty="0">
                <a:solidFill>
                  <a:schemeClr val="bg1">
                    <a:lumMod val="85000"/>
                    <a:lumOff val="15000"/>
                  </a:schemeClr>
                </a:solidFill>
              </a:rPr>
              <a:t>Reasons:- </a:t>
            </a:r>
            <a:r>
              <a:rPr lang="en-IN" sz="1800" dirty="0"/>
              <a:t>Dissatisfaction, better offers</a:t>
            </a:r>
            <a:endParaRPr sz="1800" dirty="0"/>
          </a:p>
          <a:p>
            <a:r>
              <a:rPr dirty="0"/>
              <a:t> </a:t>
            </a:r>
            <a:r>
              <a:rPr dirty="0">
                <a:solidFill>
                  <a:srgbClr val="C00000"/>
                </a:solidFill>
              </a:rPr>
              <a:t>Involuntary: </a:t>
            </a:r>
            <a:r>
              <a:rPr dirty="0"/>
              <a:t>Bank initiates closure</a:t>
            </a:r>
            <a:r>
              <a:rPr lang="en-US" dirty="0"/>
              <a:t>(customer consent mandatory) </a:t>
            </a:r>
          </a:p>
          <a:p>
            <a:pPr marL="0" indent="0">
              <a:buNone/>
            </a:pPr>
            <a:r>
              <a:rPr lang="en-US" sz="1800" dirty="0">
                <a:solidFill>
                  <a:srgbClr val="C00000"/>
                </a:solidFill>
              </a:rPr>
              <a:t>     </a:t>
            </a:r>
            <a:r>
              <a:rPr lang="en-US" dirty="0">
                <a:solidFill>
                  <a:schemeClr val="bg1">
                    <a:lumMod val="85000"/>
                    <a:lumOff val="15000"/>
                  </a:schemeClr>
                </a:solidFill>
              </a:rPr>
              <a:t>Reasons:- </a:t>
            </a:r>
            <a:r>
              <a:rPr lang="en-US" dirty="0"/>
              <a:t>Regulatory policies, Fraud transactions etc.</a:t>
            </a:r>
          </a:p>
          <a:p>
            <a:pPr marL="0" indent="0">
              <a:buNone/>
            </a:pPr>
            <a:endParaRPr dirty="0"/>
          </a:p>
        </p:txBody>
      </p:sp>
      <p:sp>
        <p:nvSpPr>
          <p:cNvPr id="4" name="Content Placeholder 2">
            <a:extLst>
              <a:ext uri="{FF2B5EF4-FFF2-40B4-BE49-F238E27FC236}">
                <a16:creationId xmlns:a16="http://schemas.microsoft.com/office/drawing/2014/main" id="{E0E8FB36-E558-3267-4678-B09863790514}"/>
              </a:ext>
            </a:extLst>
          </p:cNvPr>
          <p:cNvSpPr txBox="1">
            <a:spLocks/>
          </p:cNvSpPr>
          <p:nvPr/>
        </p:nvSpPr>
        <p:spPr>
          <a:xfrm>
            <a:off x="287866" y="1507065"/>
            <a:ext cx="8441267" cy="1921935"/>
          </a:xfrm>
          <a:prstGeom prst="rect">
            <a:avLst/>
          </a:prstGeom>
          <a:noFill/>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lgn="just">
              <a:buNone/>
            </a:pPr>
            <a:r>
              <a:rPr lang="en-US" sz="1800" dirty="0">
                <a:solidFill>
                  <a:schemeClr val="accent6">
                    <a:lumMod val="50000"/>
                  </a:schemeClr>
                </a:solidFill>
                <a:latin typeface="+mj-lt"/>
                <a:ea typeface="Cambria" panose="02040503050406030204" pitchFamily="18" charset="0"/>
              </a:rPr>
              <a:t>Customer churn is the number of existing customers lost, for any reason at all, over a given period of time. It provides companies(in our case the bank  doing analysis) with an understanding of customer satisfaction and customer loyalty, and can identify potential changes in its  bottom line</a:t>
            </a:r>
            <a:r>
              <a:rPr lang="en-US" dirty="0">
                <a:solidFill>
                  <a:schemeClr val="accent6">
                    <a:lumMod val="50000"/>
                  </a:schemeClr>
                </a:solidFill>
                <a:latin typeface="Cambria" panose="02040503050406030204" pitchFamily="18" charset="0"/>
                <a:ea typeface="Cambria" panose="020405030504060302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399" y="228600"/>
            <a:ext cx="8246534" cy="1524000"/>
          </a:xfrm>
          <a:noFill/>
        </p:spPr>
        <p:txBody>
          <a:bodyPr>
            <a:normAutofit/>
          </a:bodyPr>
          <a:lstStyle/>
          <a:p>
            <a:pPr algn="ctr"/>
            <a:r>
              <a:rPr sz="3600" dirty="0">
                <a:solidFill>
                  <a:schemeClr val="accent6"/>
                </a:solidFill>
              </a:rPr>
              <a:t>Causes of </a:t>
            </a:r>
            <a:r>
              <a:rPr lang="en-US" sz="3600" dirty="0">
                <a:solidFill>
                  <a:schemeClr val="accent6"/>
                </a:solidFill>
              </a:rPr>
              <a:t>Customer </a:t>
            </a:r>
            <a:r>
              <a:rPr sz="3600" dirty="0">
                <a:solidFill>
                  <a:schemeClr val="accent6"/>
                </a:solidFill>
              </a:rPr>
              <a:t>Churn</a:t>
            </a:r>
          </a:p>
        </p:txBody>
      </p:sp>
      <p:sp>
        <p:nvSpPr>
          <p:cNvPr id="3" name="Content Placeholder 2"/>
          <p:cNvSpPr>
            <a:spLocks noGrp="1"/>
          </p:cNvSpPr>
          <p:nvPr>
            <p:ph idx="1"/>
          </p:nvPr>
        </p:nvSpPr>
        <p:spPr>
          <a:xfrm>
            <a:off x="279400" y="2167468"/>
            <a:ext cx="8500533" cy="3894666"/>
          </a:xfrm>
          <a:noFill/>
        </p:spPr>
        <p:txBody>
          <a:bodyPr/>
          <a:lstStyle/>
          <a:p>
            <a:r>
              <a:rPr dirty="0"/>
              <a:t> Poor customer service</a:t>
            </a:r>
          </a:p>
          <a:p>
            <a:r>
              <a:rPr dirty="0"/>
              <a:t> High fees or charges</a:t>
            </a:r>
            <a:r>
              <a:rPr lang="en-US" dirty="0"/>
              <a:t> on ATM ,credit card , text messages etc.</a:t>
            </a:r>
            <a:endParaRPr dirty="0"/>
          </a:p>
          <a:p>
            <a:r>
              <a:rPr dirty="0"/>
              <a:t> Lack of personalization</a:t>
            </a:r>
            <a:r>
              <a:rPr lang="en-US" dirty="0"/>
              <a:t>  </a:t>
            </a:r>
            <a:r>
              <a:rPr lang="en-US" dirty="0" err="1"/>
              <a:t>eg.</a:t>
            </a:r>
            <a:r>
              <a:rPr lang="en-US" dirty="0"/>
              <a:t> Internet </a:t>
            </a:r>
            <a:r>
              <a:rPr lang="en-US" dirty="0" err="1"/>
              <a:t>Banking,chatbots</a:t>
            </a:r>
            <a:r>
              <a:rPr lang="en-US" dirty="0"/>
              <a:t> etc.</a:t>
            </a:r>
            <a:endParaRPr dirty="0"/>
          </a:p>
          <a:p>
            <a:r>
              <a:rPr dirty="0"/>
              <a:t> Better competitor offers</a:t>
            </a:r>
          </a:p>
          <a:p>
            <a:r>
              <a:rPr dirty="0"/>
              <a:t> Tech issues</a:t>
            </a:r>
            <a:r>
              <a:rPr lang="en-US" dirty="0"/>
              <a:t> </a:t>
            </a:r>
            <a:r>
              <a:rPr lang="en-US" dirty="0" err="1"/>
              <a:t>eg.</a:t>
            </a:r>
            <a:r>
              <a:rPr lang="en-US" dirty="0"/>
              <a:t> Application failure etc.</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1933" y="330200"/>
            <a:ext cx="8085667" cy="1524000"/>
          </a:xfrm>
        </p:spPr>
        <p:txBody>
          <a:bodyPr/>
          <a:lstStyle/>
          <a:p>
            <a:pPr algn="ctr"/>
            <a:r>
              <a:rPr lang="en-IN" dirty="0">
                <a:solidFill>
                  <a:schemeClr val="accent6"/>
                </a:solidFill>
              </a:rPr>
              <a:t>Studying </a:t>
            </a:r>
            <a:r>
              <a:rPr dirty="0">
                <a:solidFill>
                  <a:schemeClr val="accent6"/>
                </a:solidFill>
              </a:rPr>
              <a:t>Customer Behavior Trends</a:t>
            </a:r>
          </a:p>
        </p:txBody>
      </p:sp>
      <p:sp>
        <p:nvSpPr>
          <p:cNvPr id="3" name="Content Placeholder 2"/>
          <p:cNvSpPr>
            <a:spLocks noGrp="1"/>
          </p:cNvSpPr>
          <p:nvPr>
            <p:ph idx="1"/>
          </p:nvPr>
        </p:nvSpPr>
        <p:spPr>
          <a:xfrm>
            <a:off x="262466" y="2260600"/>
            <a:ext cx="6764867" cy="3767670"/>
          </a:xfrm>
          <a:noFill/>
        </p:spPr>
        <p:txBody>
          <a:bodyPr/>
          <a:lstStyle/>
          <a:p>
            <a:r>
              <a:rPr dirty="0"/>
              <a:t> Younger customers prefer digital-first banks</a:t>
            </a:r>
          </a:p>
          <a:p>
            <a:r>
              <a:rPr dirty="0"/>
              <a:t> Retention is higher with personalized service</a:t>
            </a:r>
          </a:p>
          <a:p>
            <a:r>
              <a:rPr dirty="0"/>
              <a:t> 60%</a:t>
            </a:r>
            <a:r>
              <a:rPr lang="en-IN" dirty="0"/>
              <a:t> customers</a:t>
            </a:r>
            <a:r>
              <a:rPr dirty="0"/>
              <a:t> switch for better tech experience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406400"/>
            <a:ext cx="8238067" cy="1524000"/>
          </a:xfrm>
        </p:spPr>
        <p:txBody>
          <a:bodyPr>
            <a:normAutofit/>
          </a:bodyPr>
          <a:lstStyle/>
          <a:p>
            <a:pPr algn="ctr"/>
            <a:r>
              <a:rPr sz="4400" dirty="0">
                <a:solidFill>
                  <a:schemeClr val="accent6"/>
                </a:solidFill>
              </a:rPr>
              <a:t>Impact on Banks</a:t>
            </a:r>
          </a:p>
        </p:txBody>
      </p:sp>
      <p:pic>
        <p:nvPicPr>
          <p:cNvPr id="4" name="Picture 3" descr="churn_impact_chart.png"/>
          <p:cNvPicPr>
            <a:picLocks noChangeAspect="1"/>
          </p:cNvPicPr>
          <p:nvPr/>
        </p:nvPicPr>
        <p:blipFill>
          <a:blip r:embed="rId2">
            <a:duotone>
              <a:prstClr val="black"/>
              <a:schemeClr val="accent2">
                <a:tint val="45000"/>
                <a:satMod val="400000"/>
              </a:schemeClr>
            </a:duotone>
          </a:blip>
          <a:stretch>
            <a:fillRect/>
          </a:stretch>
        </p:blipFill>
        <p:spPr>
          <a:xfrm>
            <a:off x="5958416" y="1639223"/>
            <a:ext cx="2743200" cy="1935327"/>
          </a:xfrm>
          <a:prstGeom prst="rect">
            <a:avLst/>
          </a:prstGeom>
        </p:spPr>
      </p:pic>
      <p:sp>
        <p:nvSpPr>
          <p:cNvPr id="6" name="Rectangle 2">
            <a:extLst>
              <a:ext uri="{FF2B5EF4-FFF2-40B4-BE49-F238E27FC236}">
                <a16:creationId xmlns:a16="http://schemas.microsoft.com/office/drawing/2014/main" id="{D364C8BE-4138-91DA-715D-260ABB82FBB8}"/>
              </a:ext>
            </a:extLst>
          </p:cNvPr>
          <p:cNvSpPr>
            <a:spLocks noGrp="1" noChangeArrowheads="1"/>
          </p:cNvSpPr>
          <p:nvPr>
            <p:ph idx="1"/>
          </p:nvPr>
        </p:nvSpPr>
        <p:spPr bwMode="auto">
          <a:xfrm>
            <a:off x="442384" y="3563936"/>
            <a:ext cx="77533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2">
                    <a:lumMod val="20000"/>
                    <a:lumOff val="80000"/>
                  </a:schemeClr>
                </a:solidFill>
                <a:effectLst/>
                <a:latin typeface="+mj-lt"/>
              </a:rPr>
              <a:t>Loss of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2">
                    <a:lumMod val="20000"/>
                    <a:lumOff val="80000"/>
                  </a:schemeClr>
                </a:solidFill>
                <a:effectLst/>
                <a:latin typeface="+mj-lt"/>
              </a:rPr>
              <a:t>Increased acquisition cost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2">
                    <a:lumMod val="20000"/>
                    <a:lumOff val="80000"/>
                  </a:schemeClr>
                </a:solidFill>
                <a:effectLst/>
                <a:latin typeface="+mj-lt"/>
              </a:rPr>
              <a:t>Damage to brand reputation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2">
                    <a:lumMod val="20000"/>
                    <a:lumOff val="80000"/>
                  </a:schemeClr>
                </a:solidFill>
                <a:effectLst/>
                <a:latin typeface="+mj-lt"/>
              </a:rPr>
              <a:t>Reduced lifetime value (LTV) of customers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15533" y="245533"/>
            <a:ext cx="6554867" cy="1524000"/>
          </a:xfrm>
        </p:spPr>
        <p:txBody>
          <a:bodyPr/>
          <a:lstStyle/>
          <a:p>
            <a:pPr algn="ctr"/>
            <a:r>
              <a:rPr dirty="0">
                <a:solidFill>
                  <a:schemeClr val="accent6"/>
                </a:solidFill>
              </a:rPr>
              <a:t>Case Study: XYZ Bank</a:t>
            </a:r>
          </a:p>
        </p:txBody>
      </p:sp>
      <p:sp>
        <p:nvSpPr>
          <p:cNvPr id="3" name="Content Placeholder 2"/>
          <p:cNvSpPr>
            <a:spLocks noGrp="1"/>
          </p:cNvSpPr>
          <p:nvPr>
            <p:ph idx="1"/>
          </p:nvPr>
        </p:nvSpPr>
        <p:spPr>
          <a:xfrm>
            <a:off x="220133" y="2091263"/>
            <a:ext cx="8449733" cy="3767670"/>
          </a:xfrm>
        </p:spPr>
        <p:txBody>
          <a:bodyPr>
            <a:normAutofit/>
          </a:bodyPr>
          <a:lstStyle/>
          <a:p>
            <a:r>
              <a:rPr dirty="0"/>
              <a:t> </a:t>
            </a:r>
            <a:r>
              <a:rPr dirty="0">
                <a:solidFill>
                  <a:schemeClr val="accent6">
                    <a:lumMod val="20000"/>
                    <a:lumOff val="80000"/>
                  </a:schemeClr>
                </a:solidFill>
              </a:rPr>
              <a:t>XYZ Bank </a:t>
            </a:r>
            <a:r>
              <a:rPr lang="en-IN" dirty="0">
                <a:solidFill>
                  <a:schemeClr val="accent6">
                    <a:lumMod val="20000"/>
                    <a:lumOff val="80000"/>
                  </a:schemeClr>
                </a:solidFill>
              </a:rPr>
              <a:t>having branches across France, Germany &amp; Spain has </a:t>
            </a:r>
            <a:r>
              <a:rPr dirty="0">
                <a:solidFill>
                  <a:schemeClr val="accent6">
                    <a:lumMod val="20000"/>
                    <a:lumOff val="80000"/>
                  </a:schemeClr>
                </a:solidFill>
              </a:rPr>
              <a:t>faced </a:t>
            </a:r>
            <a:r>
              <a:rPr lang="en-IN" dirty="0">
                <a:solidFill>
                  <a:schemeClr val="accent6">
                    <a:lumMod val="20000"/>
                    <a:lumOff val="80000"/>
                  </a:schemeClr>
                </a:solidFill>
              </a:rPr>
              <a:t>an </a:t>
            </a:r>
            <a:r>
              <a:rPr dirty="0">
                <a:solidFill>
                  <a:schemeClr val="accent6">
                    <a:lumMod val="20000"/>
                    <a:lumOff val="80000"/>
                  </a:schemeClr>
                </a:solidFill>
              </a:rPr>
              <a:t>annual </a:t>
            </a:r>
            <a:r>
              <a:rPr lang="en-IN" dirty="0">
                <a:solidFill>
                  <a:schemeClr val="accent6">
                    <a:lumMod val="20000"/>
                    <a:lumOff val="80000"/>
                  </a:schemeClr>
                </a:solidFill>
              </a:rPr>
              <a:t>customer </a:t>
            </a:r>
            <a:r>
              <a:rPr dirty="0">
                <a:solidFill>
                  <a:schemeClr val="accent6">
                    <a:lumMod val="20000"/>
                    <a:lumOff val="80000"/>
                  </a:schemeClr>
                </a:solidFill>
              </a:rPr>
              <a:t>churn </a:t>
            </a:r>
            <a:r>
              <a:rPr lang="en-IN" dirty="0">
                <a:solidFill>
                  <a:schemeClr val="accent6">
                    <a:lumMod val="20000"/>
                    <a:lumOff val="80000"/>
                  </a:schemeClr>
                </a:solidFill>
              </a:rPr>
              <a:t>.</a:t>
            </a:r>
          </a:p>
          <a:p>
            <a:r>
              <a:rPr dirty="0">
                <a:solidFill>
                  <a:schemeClr val="accent6">
                    <a:lumMod val="20000"/>
                    <a:lumOff val="80000"/>
                  </a:schemeClr>
                </a:solidFill>
              </a:rPr>
              <a:t>Implemented a churn </a:t>
            </a:r>
            <a:r>
              <a:rPr lang="en-IN" dirty="0">
                <a:solidFill>
                  <a:schemeClr val="accent6">
                    <a:lumMod val="20000"/>
                    <a:lumOff val="80000"/>
                  </a:schemeClr>
                </a:solidFill>
              </a:rPr>
              <a:t>analysis </a:t>
            </a:r>
            <a:r>
              <a:rPr dirty="0">
                <a:solidFill>
                  <a:schemeClr val="accent6">
                    <a:lumMod val="20000"/>
                    <a:lumOff val="80000"/>
                  </a:schemeClr>
                </a:solidFill>
              </a:rPr>
              <a:t>using transaction data</a:t>
            </a:r>
            <a:r>
              <a:rPr lang="en-IN" dirty="0">
                <a:solidFill>
                  <a:schemeClr val="accent6">
                    <a:lumMod val="20000"/>
                    <a:lumOff val="80000"/>
                  </a:schemeClr>
                </a:solidFill>
              </a:rPr>
              <a:t> provided.</a:t>
            </a:r>
          </a:p>
          <a:p>
            <a:r>
              <a:rPr lang="en-IN" dirty="0">
                <a:solidFill>
                  <a:schemeClr val="accent6">
                    <a:lumMod val="20000"/>
                    <a:lumOff val="80000"/>
                  </a:schemeClr>
                </a:solidFill>
              </a:rPr>
              <a:t>Analysis proceeds as follows:</a:t>
            </a:r>
          </a:p>
          <a:p>
            <a:endParaRPr lang="en-IN" dirty="0">
              <a:solidFill>
                <a:schemeClr val="accent6">
                  <a:lumMod val="20000"/>
                  <a:lumOff val="80000"/>
                </a:schemeClr>
              </a:solidFill>
            </a:endParaRPr>
          </a:p>
          <a:p>
            <a:pPr marL="0" indent="0">
              <a:buNone/>
            </a:pPr>
            <a:endParaRPr lang="en-IN" dirty="0">
              <a:solidFill>
                <a:schemeClr val="accent6">
                  <a:lumMod val="20000"/>
                  <a:lumOff val="8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9DEDF071-FEEA-C106-8E3F-6A3A6AD76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BBF36-8B24-D995-C906-0AF8084B2804}"/>
              </a:ext>
            </a:extLst>
          </p:cNvPr>
          <p:cNvSpPr>
            <a:spLocks noGrp="1"/>
          </p:cNvSpPr>
          <p:nvPr>
            <p:ph type="title"/>
          </p:nvPr>
        </p:nvSpPr>
        <p:spPr>
          <a:xfrm>
            <a:off x="1515533" y="245533"/>
            <a:ext cx="6554867" cy="423334"/>
          </a:xfrm>
        </p:spPr>
        <p:txBody>
          <a:bodyPr>
            <a:normAutofit fontScale="90000"/>
          </a:bodyPr>
          <a:lstStyle/>
          <a:p>
            <a:pPr algn="ctr"/>
            <a:r>
              <a:rPr lang="en-US" b="1" dirty="0">
                <a:solidFill>
                  <a:schemeClr val="accent6"/>
                </a:solidFill>
              </a:rPr>
              <a:t>Analysis Dashboard</a:t>
            </a:r>
            <a:br>
              <a:rPr lang="en-US" b="1" dirty="0">
                <a:solidFill>
                  <a:schemeClr val="accent6"/>
                </a:solidFill>
              </a:rPr>
            </a:br>
            <a:endParaRPr b="1" dirty="0">
              <a:solidFill>
                <a:schemeClr val="accent6"/>
              </a:solidFill>
            </a:endParaRPr>
          </a:p>
        </p:txBody>
      </p:sp>
      <p:pic>
        <p:nvPicPr>
          <p:cNvPr id="39" name="Graphic 38">
            <a:extLst>
              <a:ext uri="{FF2B5EF4-FFF2-40B4-BE49-F238E27FC236}">
                <a16:creationId xmlns:a16="http://schemas.microsoft.com/office/drawing/2014/main" id="{DB7DB10B-CB37-DE28-8EE1-CBE3B4D353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8368" y="683155"/>
            <a:ext cx="8368770" cy="5816181"/>
          </a:xfrm>
          <a:prstGeom prst="rect">
            <a:avLst/>
          </a:prstGeom>
        </p:spPr>
      </p:pic>
    </p:spTree>
    <p:extLst>
      <p:ext uri="{BB962C8B-B14F-4D97-AF65-F5344CB8AC3E}">
        <p14:creationId xmlns:p14="http://schemas.microsoft.com/office/powerpoint/2010/main" val="887511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07067" y="0"/>
            <a:ext cx="6554867" cy="1524000"/>
          </a:xfrm>
        </p:spPr>
        <p:txBody>
          <a:bodyPr/>
          <a:lstStyle/>
          <a:p>
            <a:r>
              <a:rPr dirty="0">
                <a:solidFill>
                  <a:schemeClr val="accent6"/>
                </a:solidFill>
              </a:rPr>
              <a:t>Churn Prediction </a:t>
            </a:r>
            <a:r>
              <a:rPr lang="en-IN" dirty="0">
                <a:solidFill>
                  <a:schemeClr val="accent6"/>
                </a:solidFill>
              </a:rPr>
              <a:t>&amp; ANALYSIS</a:t>
            </a:r>
            <a:endParaRPr dirty="0">
              <a:solidFill>
                <a:schemeClr val="accent6"/>
              </a:solidFill>
            </a:endParaRPr>
          </a:p>
        </p:txBody>
      </p:sp>
      <p:sp>
        <p:nvSpPr>
          <p:cNvPr id="3" name="Content Placeholder 2"/>
          <p:cNvSpPr>
            <a:spLocks noGrp="1"/>
          </p:cNvSpPr>
          <p:nvPr>
            <p:ph idx="1"/>
          </p:nvPr>
        </p:nvSpPr>
        <p:spPr>
          <a:xfrm>
            <a:off x="397930" y="-8466"/>
            <a:ext cx="7975599" cy="3767670"/>
          </a:xfrm>
        </p:spPr>
        <p:txBody>
          <a:bodyPr/>
          <a:lstStyle/>
          <a:p>
            <a:pPr marL="0" indent="0" algn="ctr">
              <a:buNone/>
            </a:pPr>
            <a:r>
              <a:rPr lang="en-US" dirty="0">
                <a:latin typeface="Cambria" panose="02040503050406030204" pitchFamily="18" charset="0"/>
                <a:ea typeface="Cambria" panose="02040503050406030204" pitchFamily="18" charset="0"/>
              </a:rPr>
              <a:t>Problem Statement -1</a:t>
            </a:r>
          </a:p>
          <a:p>
            <a:pPr marL="0" indent="0" algn="ctr">
              <a:buNone/>
            </a:pPr>
            <a:r>
              <a:rPr lang="en-US" dirty="0">
                <a:latin typeface="Cambria" panose="02040503050406030204" pitchFamily="18" charset="0"/>
                <a:ea typeface="Cambria" panose="02040503050406030204" pitchFamily="18" charset="0"/>
              </a:rPr>
              <a:t>To find out  the ratio of churned vs retained customers </a:t>
            </a:r>
          </a:p>
          <a:p>
            <a:pPr marL="0" indent="0">
              <a:buNone/>
            </a:pPr>
            <a:endParaRPr lang="en-US" dirty="0"/>
          </a:p>
          <a:p>
            <a:pPr marL="0" indent="0">
              <a:buNone/>
            </a:pPr>
            <a:endParaRPr dirty="0"/>
          </a:p>
        </p:txBody>
      </p:sp>
      <p:graphicFrame>
        <p:nvGraphicFramePr>
          <p:cNvPr id="4" name="Chart 3">
            <a:extLst>
              <a:ext uri="{FF2B5EF4-FFF2-40B4-BE49-F238E27FC236}">
                <a16:creationId xmlns:a16="http://schemas.microsoft.com/office/drawing/2014/main" id="{2BCE7E93-B4C3-CFF7-F2A6-710629EDB1C8}"/>
              </a:ext>
            </a:extLst>
          </p:cNvPr>
          <p:cNvGraphicFramePr>
            <a:graphicFrameLocks/>
          </p:cNvGraphicFramePr>
          <p:nvPr>
            <p:extLst>
              <p:ext uri="{D42A27DB-BD31-4B8C-83A1-F6EECF244321}">
                <p14:modId xmlns:p14="http://schemas.microsoft.com/office/powerpoint/2010/main" val="2689236264"/>
              </p:ext>
            </p:extLst>
          </p:nvPr>
        </p:nvGraphicFramePr>
        <p:xfrm>
          <a:off x="5122333" y="1925530"/>
          <a:ext cx="3708399" cy="2498408"/>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a:extLst>
              <a:ext uri="{FF2B5EF4-FFF2-40B4-BE49-F238E27FC236}">
                <a16:creationId xmlns:a16="http://schemas.microsoft.com/office/drawing/2014/main" id="{DC5CED0E-B6E9-DF27-1E75-B41289326DE9}"/>
              </a:ext>
            </a:extLst>
          </p:cNvPr>
          <p:cNvSpPr/>
          <p:nvPr/>
        </p:nvSpPr>
        <p:spPr>
          <a:xfrm>
            <a:off x="3056467" y="5410200"/>
            <a:ext cx="2785533" cy="787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413A0009-7D3A-CE53-969C-92A2BDA5584E}"/>
                  </a:ext>
                </a:extLst>
              </p:cNvPr>
              <p:cNvSpPr txBox="1"/>
              <p:nvPr/>
            </p:nvSpPr>
            <p:spPr>
              <a:xfrm>
                <a:off x="397930" y="4745466"/>
                <a:ext cx="8229603" cy="24034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𝑅𝑎𝑡𝑖𝑜</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𝐶𝑢𝑠𝑡𝑜𝑚𝑒𝑟𝑠</m:t>
                          </m:r>
                          <m:r>
                            <a:rPr lang="en-US" b="0" i="1" smtClean="0">
                              <a:latin typeface="Cambria Math" panose="02040503050406030204" pitchFamily="18" charset="0"/>
                            </a:rPr>
                            <m:t> </m:t>
                          </m:r>
                          <m:r>
                            <a:rPr lang="en-US" b="0" i="1" smtClean="0">
                              <a:latin typeface="Cambria Math" panose="02040503050406030204" pitchFamily="18" charset="0"/>
                            </a:rPr>
                            <m:t>𝐶h𝑢𝑟𝑛𝑒𝑑</m:t>
                          </m:r>
                        </m:num>
                        <m:den>
                          <m:r>
                            <a:rPr lang="en-US" b="0" i="1" smtClean="0">
                              <a:latin typeface="Cambria Math" panose="02040503050406030204" pitchFamily="18" charset="0"/>
                            </a:rPr>
                            <m:t>𝐶𝑢𝑠𝑡𝑜𝑚𝑒𝑟𝑠</m:t>
                          </m:r>
                          <m:r>
                            <a:rPr lang="en-US" b="0" i="1" smtClean="0">
                              <a:latin typeface="Cambria Math" panose="02040503050406030204" pitchFamily="18" charset="0"/>
                            </a:rPr>
                            <m:t> </m:t>
                          </m:r>
                          <m:r>
                            <a:rPr lang="en-US" b="0" i="1" smtClean="0">
                              <a:latin typeface="Cambria Math" panose="02040503050406030204" pitchFamily="18" charset="0"/>
                            </a:rPr>
                            <m:t>𝑅𝑒𝑡𝑎𝑖𝑛𝑒𝑑</m:t>
                          </m:r>
                        </m:den>
                      </m:f>
                    </m:oMath>
                  </m:oMathPara>
                </a14:m>
                <a:endParaRPr lang="en-US" b="0" dirty="0"/>
              </a:p>
              <a:p>
                <a:endParaRPr lang="en-US" dirty="0"/>
              </a:p>
              <a:p>
                <a:pPr algn="ctr"/>
                <a14:m>
                  <m:oMath xmlns:m="http://schemas.openxmlformats.org/officeDocument/2006/math">
                    <m:r>
                      <a:rPr lang="en-US" b="1" i="1" smtClean="0">
                        <a:solidFill>
                          <a:schemeClr val="bg1"/>
                        </a:solidFill>
                        <a:latin typeface="Cambria Math" panose="02040503050406030204" pitchFamily="18" charset="0"/>
                      </a:rPr>
                      <m:t>𝑹𝒂𝒕𝒊𝒐</m:t>
                    </m:r>
                    <m:r>
                      <a:rPr lang="en-US" b="1" i="1" smtClean="0">
                        <a:solidFill>
                          <a:schemeClr val="bg1"/>
                        </a:solidFill>
                        <a:latin typeface="Cambria Math" panose="02040503050406030204" pitchFamily="18" charset="0"/>
                      </a:rPr>
                      <m:t>  =</m:t>
                    </m:r>
                    <m:f>
                      <m:fPr>
                        <m:ctrlPr>
                          <a:rPr lang="en-US" b="1" i="1">
                            <a:solidFill>
                              <a:schemeClr val="bg1"/>
                            </a:solidFill>
                            <a:latin typeface="Cambria Math" panose="02040503050406030204" pitchFamily="18" charset="0"/>
                          </a:rPr>
                        </m:ctrlPr>
                      </m:fPr>
                      <m:num>
                        <m:r>
                          <a:rPr lang="en-US" b="1" i="1" smtClean="0">
                            <a:solidFill>
                              <a:schemeClr val="bg1"/>
                            </a:solidFill>
                            <a:latin typeface="Cambria Math" panose="02040503050406030204" pitchFamily="18" charset="0"/>
                          </a:rPr>
                          <m:t>𝟐𝟎𝟑𝟕</m:t>
                        </m:r>
                      </m:num>
                      <m:den>
                        <m:r>
                          <a:rPr lang="en-US" b="1" i="1" smtClean="0">
                            <a:solidFill>
                              <a:schemeClr val="bg1"/>
                            </a:solidFill>
                            <a:latin typeface="Cambria Math" panose="02040503050406030204" pitchFamily="18" charset="0"/>
                          </a:rPr>
                          <m:t>𝟕𝟗𝟔𝟑</m:t>
                        </m:r>
                      </m:den>
                    </m:f>
                  </m:oMath>
                </a14:m>
                <a:r>
                  <a:rPr lang="en-US" b="1" dirty="0">
                    <a:solidFill>
                      <a:schemeClr val="bg1"/>
                    </a:solidFill>
                  </a:rPr>
                  <a:t>= 0.255</a:t>
                </a:r>
              </a:p>
              <a:p>
                <a:pPr algn="ctr"/>
                <a:endParaRPr lang="en-US" b="1" dirty="0">
                  <a:solidFill>
                    <a:schemeClr val="bg1"/>
                  </a:solidFill>
                </a:endParaRPr>
              </a:p>
              <a:p>
                <a:endParaRPr lang="en-US" dirty="0"/>
              </a:p>
              <a:p>
                <a:endParaRPr lang="en-US" dirty="0"/>
              </a:p>
              <a:p>
                <a:endParaRPr lang="en-IN" dirty="0"/>
              </a:p>
            </p:txBody>
          </p:sp>
        </mc:Choice>
        <mc:Fallback>
          <p:sp>
            <p:nvSpPr>
              <p:cNvPr id="5" name="TextBox 4">
                <a:extLst>
                  <a:ext uri="{FF2B5EF4-FFF2-40B4-BE49-F238E27FC236}">
                    <a16:creationId xmlns:a16="http://schemas.microsoft.com/office/drawing/2014/main" id="{413A0009-7D3A-CE53-969C-92A2BDA5584E}"/>
                  </a:ext>
                </a:extLst>
              </p:cNvPr>
              <p:cNvSpPr txBox="1">
                <a:spLocks noRot="1" noChangeAspect="1" noMove="1" noResize="1" noEditPoints="1" noAdjustHandles="1" noChangeArrowheads="1" noChangeShapeType="1" noTextEdit="1"/>
              </p:cNvSpPr>
              <p:nvPr/>
            </p:nvSpPr>
            <p:spPr>
              <a:xfrm>
                <a:off x="397930" y="4745466"/>
                <a:ext cx="8229603" cy="2403415"/>
              </a:xfrm>
              <a:prstGeom prst="rect">
                <a:avLst/>
              </a:prstGeom>
              <a:blipFill>
                <a:blip r:embed="rId3"/>
                <a:stretch>
                  <a:fillRect/>
                </a:stretch>
              </a:blipFill>
            </p:spPr>
            <p:txBody>
              <a:bodyPr/>
              <a:lstStyle/>
              <a:p>
                <a:r>
                  <a:rPr lang="en-IN">
                    <a:noFill/>
                  </a:rPr>
                  <a:t> </a:t>
                </a:r>
              </a:p>
            </p:txBody>
          </p:sp>
        </mc:Fallback>
      </mc:AlternateContent>
      <p:graphicFrame>
        <p:nvGraphicFramePr>
          <p:cNvPr id="7" name="Table 6">
            <a:extLst>
              <a:ext uri="{FF2B5EF4-FFF2-40B4-BE49-F238E27FC236}">
                <a16:creationId xmlns:a16="http://schemas.microsoft.com/office/drawing/2014/main" id="{DAEC9562-0DE1-7DD1-F6C7-A939F34B71BB}"/>
              </a:ext>
            </a:extLst>
          </p:cNvPr>
          <p:cNvGraphicFramePr>
            <a:graphicFrameLocks noGrp="1"/>
          </p:cNvGraphicFramePr>
          <p:nvPr>
            <p:extLst>
              <p:ext uri="{D42A27DB-BD31-4B8C-83A1-F6EECF244321}">
                <p14:modId xmlns:p14="http://schemas.microsoft.com/office/powerpoint/2010/main" val="1842797867"/>
              </p:ext>
            </p:extLst>
          </p:nvPr>
        </p:nvGraphicFramePr>
        <p:xfrm>
          <a:off x="215900" y="2002508"/>
          <a:ext cx="4356100" cy="906780"/>
        </p:xfrm>
        <a:graphic>
          <a:graphicData uri="http://schemas.openxmlformats.org/drawingml/2006/table">
            <a:tbl>
              <a:tblPr/>
              <a:tblGrid>
                <a:gridCol w="1587500">
                  <a:extLst>
                    <a:ext uri="{9D8B030D-6E8A-4147-A177-3AD203B41FA5}">
                      <a16:colId xmlns:a16="http://schemas.microsoft.com/office/drawing/2014/main" val="160071256"/>
                    </a:ext>
                  </a:extLst>
                </a:gridCol>
                <a:gridCol w="1066800">
                  <a:extLst>
                    <a:ext uri="{9D8B030D-6E8A-4147-A177-3AD203B41FA5}">
                      <a16:colId xmlns:a16="http://schemas.microsoft.com/office/drawing/2014/main" val="3004027302"/>
                    </a:ext>
                  </a:extLst>
                </a:gridCol>
                <a:gridCol w="584200">
                  <a:extLst>
                    <a:ext uri="{9D8B030D-6E8A-4147-A177-3AD203B41FA5}">
                      <a16:colId xmlns:a16="http://schemas.microsoft.com/office/drawing/2014/main" val="3008206797"/>
                    </a:ext>
                  </a:extLst>
                </a:gridCol>
                <a:gridCol w="393700">
                  <a:extLst>
                    <a:ext uri="{9D8B030D-6E8A-4147-A177-3AD203B41FA5}">
                      <a16:colId xmlns:a16="http://schemas.microsoft.com/office/drawing/2014/main" val="2633798933"/>
                    </a:ext>
                  </a:extLst>
                </a:gridCol>
                <a:gridCol w="723900">
                  <a:extLst>
                    <a:ext uri="{9D8B030D-6E8A-4147-A177-3AD203B41FA5}">
                      <a16:colId xmlns:a16="http://schemas.microsoft.com/office/drawing/2014/main" val="3115712543"/>
                    </a:ext>
                  </a:extLst>
                </a:gridCol>
              </a:tblGrid>
              <a:tr h="42916">
                <a:tc>
                  <a:txBody>
                    <a:bodyPr/>
                    <a:lstStyle/>
                    <a:p>
                      <a:pPr algn="l" fontAlgn="b">
                        <a:buNone/>
                      </a:pPr>
                      <a:r>
                        <a:rPr lang="en-IN" sz="1100" b="1" i="0" u="none" strike="noStrike" dirty="0">
                          <a:solidFill>
                            <a:srgbClr val="000000"/>
                          </a:solidFill>
                          <a:effectLst/>
                          <a:latin typeface="Aptos Narrow" panose="020B0004020202020204" pitchFamily="34" charset="0"/>
                        </a:rPr>
                        <a:t>Count of churned /retained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dirty="0">
                          <a:solidFill>
                            <a:srgbClr val="000000"/>
                          </a:solidFill>
                          <a:effectLst/>
                          <a:latin typeface="Aptos Narrow" panose="020B0004020202020204" pitchFamily="34" charset="0"/>
                        </a:rPr>
                        <a:t>Country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dirty="0">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4122062545"/>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Churned/Retained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dirty="0">
                          <a:solidFill>
                            <a:srgbClr val="000000"/>
                          </a:solidFill>
                          <a:effectLst/>
                          <a:latin typeface="Aptos Narrow" panose="020B0004020202020204" pitchFamily="34" charset="0"/>
                        </a:rPr>
                        <a:t>France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Germany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Spain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992958336"/>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churned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810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814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413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2037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8194893"/>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retained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4203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1696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2064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7963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90271300"/>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5013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2510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2477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10000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325129333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DA1845C3-A82D-FE67-6CA4-AF52F3775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EA3DE-2211-54E4-6A15-8A11ED6ECD41}"/>
              </a:ext>
            </a:extLst>
          </p:cNvPr>
          <p:cNvSpPr>
            <a:spLocks noGrp="1"/>
          </p:cNvSpPr>
          <p:nvPr>
            <p:ph type="title"/>
          </p:nvPr>
        </p:nvSpPr>
        <p:spPr>
          <a:xfrm>
            <a:off x="1507067" y="0"/>
            <a:ext cx="6554867" cy="1524000"/>
          </a:xfrm>
        </p:spPr>
        <p:txBody>
          <a:bodyPr/>
          <a:lstStyle/>
          <a:p>
            <a:r>
              <a:rPr dirty="0">
                <a:solidFill>
                  <a:schemeClr val="accent6"/>
                </a:solidFill>
              </a:rPr>
              <a:t>Churn Prediction </a:t>
            </a:r>
            <a:r>
              <a:rPr lang="en-IN" dirty="0">
                <a:solidFill>
                  <a:schemeClr val="accent6"/>
                </a:solidFill>
              </a:rPr>
              <a:t>&amp; ANALYSIS</a:t>
            </a:r>
            <a:endParaRPr dirty="0">
              <a:solidFill>
                <a:schemeClr val="accent6"/>
              </a:solidFill>
            </a:endParaRPr>
          </a:p>
        </p:txBody>
      </p:sp>
      <p:sp>
        <p:nvSpPr>
          <p:cNvPr id="3" name="Content Placeholder 2">
            <a:extLst>
              <a:ext uri="{FF2B5EF4-FFF2-40B4-BE49-F238E27FC236}">
                <a16:creationId xmlns:a16="http://schemas.microsoft.com/office/drawing/2014/main" id="{A698F1B9-8DA6-EE1E-0ABD-85363B805CF6}"/>
              </a:ext>
            </a:extLst>
          </p:cNvPr>
          <p:cNvSpPr>
            <a:spLocks noGrp="1"/>
          </p:cNvSpPr>
          <p:nvPr>
            <p:ph idx="1"/>
          </p:nvPr>
        </p:nvSpPr>
        <p:spPr>
          <a:xfrm>
            <a:off x="397930" y="-8466"/>
            <a:ext cx="7975599" cy="3767670"/>
          </a:xfrm>
        </p:spPr>
        <p:txBody>
          <a:bodyPr/>
          <a:lstStyle/>
          <a:p>
            <a:pPr marL="0" indent="0" algn="ctr">
              <a:buNone/>
            </a:pPr>
            <a:endParaRPr lang="en-US" dirty="0">
              <a:latin typeface="Cambria" panose="02040503050406030204" pitchFamily="18" charset="0"/>
              <a:ea typeface="Cambria" panose="02040503050406030204" pitchFamily="18" charset="0"/>
            </a:endParaRPr>
          </a:p>
          <a:p>
            <a:pPr marL="0" indent="0" algn="ctr">
              <a:buNone/>
            </a:pPr>
            <a:r>
              <a:rPr lang="en-US" dirty="0">
                <a:latin typeface="Cambria" panose="02040503050406030204" pitchFamily="18" charset="0"/>
                <a:ea typeface="Cambria" panose="02040503050406030204" pitchFamily="18" charset="0"/>
              </a:rPr>
              <a:t>Problem Statement -2</a:t>
            </a:r>
          </a:p>
          <a:p>
            <a:pPr marL="0" indent="0" algn="ctr">
              <a:buNone/>
            </a:pPr>
            <a:r>
              <a:rPr lang="en-US" dirty="0">
                <a:latin typeface="Cambria" panose="02040503050406030204" pitchFamily="18" charset="0"/>
                <a:ea typeface="Cambria" panose="02040503050406030204" pitchFamily="18" charset="0"/>
              </a:rPr>
              <a:t>To find out the tenure durations who have observed least churn? </a:t>
            </a:r>
            <a:endParaRPr lang="en-US" dirty="0"/>
          </a:p>
          <a:p>
            <a:pPr marL="0" indent="0">
              <a:buNone/>
            </a:pPr>
            <a:endParaRPr dirty="0"/>
          </a:p>
        </p:txBody>
      </p:sp>
      <p:graphicFrame>
        <p:nvGraphicFramePr>
          <p:cNvPr id="11" name="Table 10">
            <a:extLst>
              <a:ext uri="{FF2B5EF4-FFF2-40B4-BE49-F238E27FC236}">
                <a16:creationId xmlns:a16="http://schemas.microsoft.com/office/drawing/2014/main" id="{B7A55879-CBBF-41B5-E68C-B0DC8EF15944}"/>
              </a:ext>
            </a:extLst>
          </p:cNvPr>
          <p:cNvGraphicFramePr>
            <a:graphicFrameLocks noGrp="1"/>
          </p:cNvGraphicFramePr>
          <p:nvPr>
            <p:extLst>
              <p:ext uri="{D42A27DB-BD31-4B8C-83A1-F6EECF244321}">
                <p14:modId xmlns:p14="http://schemas.microsoft.com/office/powerpoint/2010/main" val="3940747693"/>
              </p:ext>
            </p:extLst>
          </p:nvPr>
        </p:nvGraphicFramePr>
        <p:xfrm>
          <a:off x="541864" y="2649226"/>
          <a:ext cx="1562100" cy="2369820"/>
        </p:xfrm>
        <a:graphic>
          <a:graphicData uri="http://schemas.openxmlformats.org/drawingml/2006/table">
            <a:tbl>
              <a:tblPr/>
              <a:tblGrid>
                <a:gridCol w="723900">
                  <a:extLst>
                    <a:ext uri="{9D8B030D-6E8A-4147-A177-3AD203B41FA5}">
                      <a16:colId xmlns:a16="http://schemas.microsoft.com/office/drawing/2014/main" val="2297692298"/>
                    </a:ext>
                  </a:extLst>
                </a:gridCol>
                <a:gridCol w="838200">
                  <a:extLst>
                    <a:ext uri="{9D8B030D-6E8A-4147-A177-3AD203B41FA5}">
                      <a16:colId xmlns:a16="http://schemas.microsoft.com/office/drawing/2014/main" val="2540307298"/>
                    </a:ext>
                  </a:extLst>
                </a:gridCol>
              </a:tblGrid>
              <a:tr h="0">
                <a:tc>
                  <a:txBody>
                    <a:bodyPr/>
                    <a:lstStyle/>
                    <a:p>
                      <a:pPr algn="l" fontAlgn="b">
                        <a:buNone/>
                      </a:pPr>
                      <a:r>
                        <a:rPr lang="en-IN" sz="1100" b="1" i="0" u="none" strike="noStrike" dirty="0">
                          <a:solidFill>
                            <a:srgbClr val="000000"/>
                          </a:solidFill>
                          <a:effectLst/>
                          <a:latin typeface="Aptos Narrow" panose="020B0004020202020204" pitchFamily="34" charset="0"/>
                        </a:rPr>
                        <a:t>Tenure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Sum of Exited</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3193448788"/>
                  </a:ext>
                </a:extLst>
              </a:tr>
              <a:tr h="182880">
                <a:tc>
                  <a:txBody>
                    <a:bodyPr/>
                    <a:lstStyle/>
                    <a:p>
                      <a:pPr algn="l" fontAlgn="b">
                        <a:buNone/>
                      </a:pPr>
                      <a:r>
                        <a:rPr lang="en-IN" sz="1100" b="0" i="0" u="none" strike="noStrike" dirty="0">
                          <a:solidFill>
                            <a:srgbClr val="000000"/>
                          </a:solidFill>
                          <a:effectLst/>
                          <a:latin typeface="Aptos Narrow" panose="020B000402020202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95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0327678"/>
                  </a:ext>
                </a:extLst>
              </a:tr>
              <a:tr h="182880">
                <a:tc>
                  <a:txBody>
                    <a:bodyPr/>
                    <a:lstStyle/>
                    <a:p>
                      <a:pPr algn="l" fontAlgn="b">
                        <a:buNone/>
                      </a:pPr>
                      <a:r>
                        <a:rPr lang="en-IN" sz="1100" b="0" i="0" u="none" strike="noStrike" dirty="0">
                          <a:solidFill>
                            <a:srgbClr val="000000"/>
                          </a:solidFill>
                          <a:effectLst/>
                          <a:latin typeface="Aptos Narrow" panose="020B000402020202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232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0203515"/>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201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1720097"/>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6819303"/>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203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03789743"/>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9938428"/>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196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14087"/>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177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6080489"/>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197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3944289"/>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7362340"/>
                  </a:ext>
                </a:extLst>
              </a:tr>
              <a:tr h="182880">
                <a:tc>
                  <a:txBody>
                    <a:bodyPr/>
                    <a:lstStyle/>
                    <a:p>
                      <a:pPr algn="l" fontAlgn="b">
                        <a:buNone/>
                      </a:pPr>
                      <a:r>
                        <a:rPr lang="en-IN" sz="1100" b="0" i="0" u="none" strike="noStrike" dirty="0">
                          <a:solidFill>
                            <a:srgbClr val="000000"/>
                          </a:solidFill>
                          <a:effectLst/>
                          <a:latin typeface="Aptos Narrow" panose="020B000402020202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101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825366"/>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2037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01723306"/>
                  </a:ext>
                </a:extLst>
              </a:tr>
            </a:tbl>
          </a:graphicData>
        </a:graphic>
      </p:graphicFrame>
      <p:graphicFrame>
        <p:nvGraphicFramePr>
          <p:cNvPr id="13" name="Chart 12">
            <a:extLst>
              <a:ext uri="{FF2B5EF4-FFF2-40B4-BE49-F238E27FC236}">
                <a16:creationId xmlns:a16="http://schemas.microsoft.com/office/drawing/2014/main" id="{5A6D5393-3597-31F4-F6FE-F7D9F2AAAA21}"/>
              </a:ext>
            </a:extLst>
          </p:cNvPr>
          <p:cNvGraphicFramePr>
            <a:graphicFrameLocks/>
          </p:cNvGraphicFramePr>
          <p:nvPr>
            <p:extLst>
              <p:ext uri="{D42A27DB-BD31-4B8C-83A1-F6EECF244321}">
                <p14:modId xmlns:p14="http://schemas.microsoft.com/office/powerpoint/2010/main" val="3150033743"/>
              </p:ext>
            </p:extLst>
          </p:nvPr>
        </p:nvGraphicFramePr>
        <p:xfrm>
          <a:off x="3623733" y="2548467"/>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1CD47D84-5C4F-3FFC-B777-E3403EFBB12C}"/>
              </a:ext>
            </a:extLst>
          </p:cNvPr>
          <p:cNvSpPr/>
          <p:nvPr/>
        </p:nvSpPr>
        <p:spPr>
          <a:xfrm>
            <a:off x="1625600" y="5782733"/>
            <a:ext cx="5960533" cy="646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TextBox 15">
            <a:extLst>
              <a:ext uri="{FF2B5EF4-FFF2-40B4-BE49-F238E27FC236}">
                <a16:creationId xmlns:a16="http://schemas.microsoft.com/office/drawing/2014/main" id="{2876062C-87E3-8038-5E1A-BB4AC5208DB9}"/>
              </a:ext>
            </a:extLst>
          </p:cNvPr>
          <p:cNvSpPr txBox="1"/>
          <p:nvPr/>
        </p:nvSpPr>
        <p:spPr>
          <a:xfrm>
            <a:off x="1625600" y="5782733"/>
            <a:ext cx="5960533" cy="646331"/>
          </a:xfrm>
          <a:prstGeom prst="rect">
            <a:avLst/>
          </a:prstGeom>
          <a:noFill/>
        </p:spPr>
        <p:txBody>
          <a:bodyPr wrap="square" rtlCol="0">
            <a:spAutoFit/>
          </a:bodyPr>
          <a:lstStyle/>
          <a:p>
            <a:pPr algn="ctr"/>
            <a:r>
              <a:rPr lang="en-US" b="1" dirty="0">
                <a:solidFill>
                  <a:schemeClr val="bg1"/>
                </a:solidFill>
              </a:rPr>
              <a:t>Ans: 0 &amp; 10</a:t>
            </a:r>
          </a:p>
          <a:p>
            <a:pPr algn="ctr"/>
            <a:r>
              <a:rPr lang="en-US" b="1" dirty="0">
                <a:solidFill>
                  <a:schemeClr val="bg1"/>
                </a:solidFill>
              </a:rPr>
              <a:t>i.e. the newest and the oldest customers </a:t>
            </a:r>
            <a:endParaRPr lang="en-IN" b="1" dirty="0">
              <a:solidFill>
                <a:schemeClr val="bg1"/>
              </a:solidFill>
            </a:endParaRPr>
          </a:p>
        </p:txBody>
      </p:sp>
    </p:spTree>
    <p:extLst>
      <p:ext uri="{BB962C8B-B14F-4D97-AF65-F5344CB8AC3E}">
        <p14:creationId xmlns:p14="http://schemas.microsoft.com/office/powerpoint/2010/main" val="1237450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31614D7E-2D19-C5B8-34C9-3F35022BD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F3A7D-B293-F6A5-D38F-38EE5E830908}"/>
              </a:ext>
            </a:extLst>
          </p:cNvPr>
          <p:cNvSpPr>
            <a:spLocks noGrp="1"/>
          </p:cNvSpPr>
          <p:nvPr>
            <p:ph type="title"/>
          </p:nvPr>
        </p:nvSpPr>
        <p:spPr>
          <a:xfrm>
            <a:off x="1507067" y="0"/>
            <a:ext cx="6554867" cy="1524000"/>
          </a:xfrm>
        </p:spPr>
        <p:txBody>
          <a:bodyPr/>
          <a:lstStyle/>
          <a:p>
            <a:r>
              <a:rPr dirty="0">
                <a:solidFill>
                  <a:schemeClr val="accent6"/>
                </a:solidFill>
              </a:rPr>
              <a:t>Churn Prediction </a:t>
            </a:r>
            <a:r>
              <a:rPr lang="en-IN" dirty="0">
                <a:solidFill>
                  <a:schemeClr val="accent6"/>
                </a:solidFill>
              </a:rPr>
              <a:t>&amp; ANALYSIS</a:t>
            </a:r>
            <a:endParaRPr dirty="0">
              <a:solidFill>
                <a:schemeClr val="accent6"/>
              </a:solidFill>
            </a:endParaRPr>
          </a:p>
        </p:txBody>
      </p:sp>
      <p:sp>
        <p:nvSpPr>
          <p:cNvPr id="3" name="Content Placeholder 2">
            <a:extLst>
              <a:ext uri="{FF2B5EF4-FFF2-40B4-BE49-F238E27FC236}">
                <a16:creationId xmlns:a16="http://schemas.microsoft.com/office/drawing/2014/main" id="{04939FD9-6DAA-1F0F-B729-83D4F31C9F31}"/>
              </a:ext>
            </a:extLst>
          </p:cNvPr>
          <p:cNvSpPr>
            <a:spLocks noGrp="1"/>
          </p:cNvSpPr>
          <p:nvPr>
            <p:ph idx="1"/>
          </p:nvPr>
        </p:nvSpPr>
        <p:spPr>
          <a:xfrm>
            <a:off x="397930" y="-8466"/>
            <a:ext cx="7975599" cy="3767670"/>
          </a:xfrm>
        </p:spPr>
        <p:txBody>
          <a:bodyPr/>
          <a:lstStyle/>
          <a:p>
            <a:pPr marL="0" indent="0" algn="ctr">
              <a:buNone/>
            </a:pPr>
            <a:endParaRPr lang="en-US" dirty="0">
              <a:latin typeface="Cambria" panose="02040503050406030204" pitchFamily="18" charset="0"/>
              <a:ea typeface="Cambria" panose="02040503050406030204" pitchFamily="18" charset="0"/>
            </a:endParaRPr>
          </a:p>
          <a:p>
            <a:pPr marL="0" indent="0" algn="ctr">
              <a:buNone/>
            </a:pPr>
            <a:r>
              <a:rPr lang="en-US" dirty="0">
                <a:latin typeface="Cambria" panose="02040503050406030204" pitchFamily="18" charset="0"/>
                <a:ea typeface="Cambria" panose="02040503050406030204" pitchFamily="18" charset="0"/>
              </a:rPr>
              <a:t>Problem Statement -3</a:t>
            </a:r>
          </a:p>
          <a:p>
            <a:pPr marL="0" indent="0" algn="ctr">
              <a:buNone/>
            </a:pPr>
            <a:r>
              <a:rPr lang="en-US" dirty="0">
                <a:latin typeface="Cambria" panose="02040503050406030204" pitchFamily="18" charset="0"/>
                <a:ea typeface="Cambria" panose="02040503050406030204" pitchFamily="18" charset="0"/>
              </a:rPr>
              <a:t>To find out the country observing highest churn ? Also find  the age group having maximum churn in the same.</a:t>
            </a:r>
            <a:endParaRPr lang="en-US" dirty="0"/>
          </a:p>
          <a:p>
            <a:pPr marL="0" indent="0">
              <a:buNone/>
            </a:pPr>
            <a:endParaRPr dirty="0"/>
          </a:p>
        </p:txBody>
      </p:sp>
      <p:sp>
        <p:nvSpPr>
          <p:cNvPr id="17" name="Rectangle 16">
            <a:extLst>
              <a:ext uri="{FF2B5EF4-FFF2-40B4-BE49-F238E27FC236}">
                <a16:creationId xmlns:a16="http://schemas.microsoft.com/office/drawing/2014/main" id="{157443F5-A911-6370-7CF6-FEDCE23D60A7}"/>
              </a:ext>
            </a:extLst>
          </p:cNvPr>
          <p:cNvSpPr/>
          <p:nvPr/>
        </p:nvSpPr>
        <p:spPr>
          <a:xfrm>
            <a:off x="1625600" y="5782734"/>
            <a:ext cx="5960533" cy="4487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TextBox 15">
            <a:extLst>
              <a:ext uri="{FF2B5EF4-FFF2-40B4-BE49-F238E27FC236}">
                <a16:creationId xmlns:a16="http://schemas.microsoft.com/office/drawing/2014/main" id="{A3536E86-0AE2-93D6-C000-6DDE2915C810}"/>
              </a:ext>
            </a:extLst>
          </p:cNvPr>
          <p:cNvSpPr txBox="1"/>
          <p:nvPr/>
        </p:nvSpPr>
        <p:spPr>
          <a:xfrm>
            <a:off x="1625600" y="5782733"/>
            <a:ext cx="5960533" cy="369332"/>
          </a:xfrm>
          <a:prstGeom prst="rect">
            <a:avLst/>
          </a:prstGeom>
          <a:noFill/>
        </p:spPr>
        <p:txBody>
          <a:bodyPr wrap="square" rtlCol="0">
            <a:spAutoFit/>
          </a:bodyPr>
          <a:lstStyle/>
          <a:p>
            <a:pPr algn="ctr"/>
            <a:r>
              <a:rPr lang="en-US" b="1" dirty="0">
                <a:solidFill>
                  <a:schemeClr val="bg1"/>
                </a:solidFill>
              </a:rPr>
              <a:t>Ans: Germany(38-48)</a:t>
            </a:r>
          </a:p>
        </p:txBody>
      </p:sp>
      <p:graphicFrame>
        <p:nvGraphicFramePr>
          <p:cNvPr id="4" name="Table 3">
            <a:extLst>
              <a:ext uri="{FF2B5EF4-FFF2-40B4-BE49-F238E27FC236}">
                <a16:creationId xmlns:a16="http://schemas.microsoft.com/office/drawing/2014/main" id="{6008F137-0DD6-959A-F744-AA243202B40E}"/>
              </a:ext>
            </a:extLst>
          </p:cNvPr>
          <p:cNvGraphicFramePr>
            <a:graphicFrameLocks noGrp="1"/>
          </p:cNvGraphicFramePr>
          <p:nvPr>
            <p:extLst>
              <p:ext uri="{D42A27DB-BD31-4B8C-83A1-F6EECF244321}">
                <p14:modId xmlns:p14="http://schemas.microsoft.com/office/powerpoint/2010/main" val="1059000087"/>
              </p:ext>
            </p:extLst>
          </p:nvPr>
        </p:nvGraphicFramePr>
        <p:xfrm>
          <a:off x="214577" y="2416969"/>
          <a:ext cx="8158952" cy="1051560"/>
        </p:xfrm>
        <a:graphic>
          <a:graphicData uri="http://schemas.openxmlformats.org/drawingml/2006/table">
            <a:tbl>
              <a:tblPr/>
              <a:tblGrid>
                <a:gridCol w="1342870">
                  <a:extLst>
                    <a:ext uri="{9D8B030D-6E8A-4147-A177-3AD203B41FA5}">
                      <a16:colId xmlns:a16="http://schemas.microsoft.com/office/drawing/2014/main" val="1012246750"/>
                    </a:ext>
                  </a:extLst>
                </a:gridCol>
                <a:gridCol w="1241137">
                  <a:extLst>
                    <a:ext uri="{9D8B030D-6E8A-4147-A177-3AD203B41FA5}">
                      <a16:colId xmlns:a16="http://schemas.microsoft.com/office/drawing/2014/main" val="2497193812"/>
                    </a:ext>
                  </a:extLst>
                </a:gridCol>
                <a:gridCol w="630742">
                  <a:extLst>
                    <a:ext uri="{9D8B030D-6E8A-4147-A177-3AD203B41FA5}">
                      <a16:colId xmlns:a16="http://schemas.microsoft.com/office/drawing/2014/main" val="606798260"/>
                    </a:ext>
                  </a:extLst>
                </a:gridCol>
                <a:gridCol w="630742">
                  <a:extLst>
                    <a:ext uri="{9D8B030D-6E8A-4147-A177-3AD203B41FA5}">
                      <a16:colId xmlns:a16="http://schemas.microsoft.com/office/drawing/2014/main" val="283514253"/>
                    </a:ext>
                  </a:extLst>
                </a:gridCol>
                <a:gridCol w="630742">
                  <a:extLst>
                    <a:ext uri="{9D8B030D-6E8A-4147-A177-3AD203B41FA5}">
                      <a16:colId xmlns:a16="http://schemas.microsoft.com/office/drawing/2014/main" val="4234914159"/>
                    </a:ext>
                  </a:extLst>
                </a:gridCol>
                <a:gridCol w="630742">
                  <a:extLst>
                    <a:ext uri="{9D8B030D-6E8A-4147-A177-3AD203B41FA5}">
                      <a16:colId xmlns:a16="http://schemas.microsoft.com/office/drawing/2014/main" val="3438293243"/>
                    </a:ext>
                  </a:extLst>
                </a:gridCol>
                <a:gridCol w="630742">
                  <a:extLst>
                    <a:ext uri="{9D8B030D-6E8A-4147-A177-3AD203B41FA5}">
                      <a16:colId xmlns:a16="http://schemas.microsoft.com/office/drawing/2014/main" val="4249506031"/>
                    </a:ext>
                  </a:extLst>
                </a:gridCol>
                <a:gridCol w="630742">
                  <a:extLst>
                    <a:ext uri="{9D8B030D-6E8A-4147-A177-3AD203B41FA5}">
                      <a16:colId xmlns:a16="http://schemas.microsoft.com/office/drawing/2014/main" val="1515494198"/>
                    </a:ext>
                  </a:extLst>
                </a:gridCol>
                <a:gridCol w="630742">
                  <a:extLst>
                    <a:ext uri="{9D8B030D-6E8A-4147-A177-3AD203B41FA5}">
                      <a16:colId xmlns:a16="http://schemas.microsoft.com/office/drawing/2014/main" val="2535374763"/>
                    </a:ext>
                  </a:extLst>
                </a:gridCol>
                <a:gridCol w="1159751">
                  <a:extLst>
                    <a:ext uri="{9D8B030D-6E8A-4147-A177-3AD203B41FA5}">
                      <a16:colId xmlns:a16="http://schemas.microsoft.com/office/drawing/2014/main" val="2067042361"/>
                    </a:ext>
                  </a:extLst>
                </a:gridCol>
              </a:tblGrid>
              <a:tr h="168672">
                <a:tc>
                  <a:txBody>
                    <a:bodyPr/>
                    <a:lstStyle/>
                    <a:p>
                      <a:pPr algn="l" fontAlgn="b">
                        <a:buNone/>
                      </a:pPr>
                      <a:r>
                        <a:rPr lang="en-IN" sz="1100" b="1" i="0" u="none" strike="noStrike">
                          <a:solidFill>
                            <a:srgbClr val="000000"/>
                          </a:solidFill>
                          <a:effectLst/>
                          <a:latin typeface="Aptos Narrow" panose="020B0004020202020204" pitchFamily="34" charset="0"/>
                        </a:rPr>
                        <a:t>Sum of Exited</a:t>
                      </a:r>
                    </a:p>
                  </a:txBody>
                  <a:tcPr marL="7620" marR="7620" marT="7620" marB="0" anchor="b">
                    <a:lnL>
                      <a:noFill/>
                    </a:lnL>
                    <a:lnR>
                      <a:noFill/>
                    </a:lnR>
                    <a:lnT>
                      <a:noFill/>
                    </a:lnT>
                    <a:lnB>
                      <a:noFill/>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Age group</a:t>
                      </a: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extLst>
                  <a:ext uri="{0D108BD9-81ED-4DB2-BD59-A6C34878D82A}">
                    <a16:rowId xmlns:a16="http://schemas.microsoft.com/office/drawing/2014/main" val="405564753"/>
                  </a:ext>
                </a:extLst>
              </a:tr>
              <a:tr h="168672">
                <a:tc>
                  <a:txBody>
                    <a:bodyPr/>
                    <a:lstStyle/>
                    <a:p>
                      <a:pPr algn="l" fontAlgn="b">
                        <a:buNone/>
                      </a:pPr>
                      <a:r>
                        <a:rPr lang="en-IN" sz="1100" b="1" i="0" u="none" strike="noStrike">
                          <a:solidFill>
                            <a:srgbClr val="000000"/>
                          </a:solidFill>
                          <a:effectLst/>
                          <a:latin typeface="Aptos Narrow" panose="020B0004020202020204" pitchFamily="34" charset="0"/>
                        </a:rPr>
                        <a:t>Country</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18-28</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28-38</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dirty="0">
                          <a:solidFill>
                            <a:srgbClr val="000000"/>
                          </a:solidFill>
                          <a:effectLst/>
                          <a:latin typeface="Aptos Narrow" panose="020B0004020202020204" pitchFamily="34" charset="0"/>
                        </a:rPr>
                        <a:t>38-48</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dirty="0">
                          <a:solidFill>
                            <a:srgbClr val="000000"/>
                          </a:solidFill>
                          <a:effectLst/>
                          <a:latin typeface="Aptos Narrow" panose="020B0004020202020204" pitchFamily="34" charset="0"/>
                        </a:rPr>
                        <a:t>48-58</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58-68</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68-78</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78-88</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dirty="0">
                          <a:solidFill>
                            <a:srgbClr val="000000"/>
                          </a:solidFill>
                          <a:effectLst/>
                          <a:latin typeface="Aptos Narrow" panose="020B0004020202020204" pitchFamily="34" charset="0"/>
                        </a:rPr>
                        <a:t>88-98</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064668912"/>
                  </a:ext>
                </a:extLst>
              </a:tr>
              <a:tr h="168672">
                <a:tc>
                  <a:txBody>
                    <a:bodyPr/>
                    <a:lstStyle/>
                    <a:p>
                      <a:pPr algn="l" fontAlgn="b">
                        <a:buNone/>
                      </a:pPr>
                      <a:r>
                        <a:rPr lang="en-IN" sz="1100" b="0" i="0" u="none" strike="noStrike">
                          <a:solidFill>
                            <a:srgbClr val="000000"/>
                          </a:solidFill>
                          <a:effectLst/>
                          <a:latin typeface="Aptos Narrow" panose="020B0004020202020204" pitchFamily="34" charset="0"/>
                        </a:rPr>
                        <a:t>France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29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148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308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233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84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810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3665244"/>
                  </a:ext>
                </a:extLst>
              </a:tr>
              <a:tr h="168672">
                <a:tc>
                  <a:txBody>
                    <a:bodyPr/>
                    <a:lstStyle/>
                    <a:p>
                      <a:pPr algn="l" fontAlgn="b">
                        <a:buNone/>
                      </a:pPr>
                      <a:r>
                        <a:rPr lang="en-IN" sz="1100" b="0" i="0" u="none" strike="noStrike">
                          <a:solidFill>
                            <a:srgbClr val="000000"/>
                          </a:solidFill>
                          <a:effectLst/>
                          <a:latin typeface="Aptos Narrow" panose="020B0004020202020204" pitchFamily="34" charset="0"/>
                        </a:rPr>
                        <a:t>Germany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157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319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233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71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100" b="0" i="0" u="none" strike="noStrike">
                          <a:solidFill>
                            <a:srgbClr val="000000"/>
                          </a:solidFill>
                          <a:effectLst/>
                          <a:latin typeface="Aptos Narrow" panose="020B000402020202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814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5267130"/>
                  </a:ext>
                </a:extLst>
              </a:tr>
              <a:tr h="168672">
                <a:tc>
                  <a:txBody>
                    <a:bodyPr/>
                    <a:lstStyle/>
                    <a:p>
                      <a:pPr algn="l" fontAlgn="b">
                        <a:buNone/>
                      </a:pPr>
                      <a:r>
                        <a:rPr lang="en-IN" sz="1100" b="0" i="0" u="none" strike="noStrike">
                          <a:solidFill>
                            <a:srgbClr val="000000"/>
                          </a:solidFill>
                          <a:effectLst/>
                          <a:latin typeface="Aptos Narrow" panose="020B0004020202020204" pitchFamily="34" charset="0"/>
                        </a:rPr>
                        <a:t>Spain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84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159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117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413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2453779847"/>
                  </a:ext>
                </a:extLst>
              </a:tr>
              <a:tr h="168672">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73</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389</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786</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583</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183</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22</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1</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0</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2037</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extLst>
                  <a:ext uri="{0D108BD9-81ED-4DB2-BD59-A6C34878D82A}">
                    <a16:rowId xmlns:a16="http://schemas.microsoft.com/office/drawing/2014/main" val="258831123"/>
                  </a:ext>
                </a:extLst>
              </a:tr>
            </a:tbl>
          </a:graphicData>
        </a:graphic>
      </p:graphicFrame>
      <p:graphicFrame>
        <p:nvGraphicFramePr>
          <p:cNvPr id="5" name="Chart 4">
            <a:extLst>
              <a:ext uri="{FF2B5EF4-FFF2-40B4-BE49-F238E27FC236}">
                <a16:creationId xmlns:a16="http://schemas.microsoft.com/office/drawing/2014/main" id="{5A0BA747-8481-6B2B-91B7-14C69014A7AB}"/>
              </a:ext>
            </a:extLst>
          </p:cNvPr>
          <p:cNvGraphicFramePr>
            <a:graphicFrameLocks/>
          </p:cNvGraphicFramePr>
          <p:nvPr>
            <p:extLst>
              <p:ext uri="{D42A27DB-BD31-4B8C-83A1-F6EECF244321}">
                <p14:modId xmlns:p14="http://schemas.microsoft.com/office/powerpoint/2010/main" val="2284913691"/>
              </p:ext>
            </p:extLst>
          </p:nvPr>
        </p:nvGraphicFramePr>
        <p:xfrm>
          <a:off x="2262451" y="3591179"/>
          <a:ext cx="4485481" cy="199171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04802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F14F8B8B-40AD-2AA7-627E-029DE6270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0BEC0-0853-6C42-57B9-30FAC8E412CD}"/>
              </a:ext>
            </a:extLst>
          </p:cNvPr>
          <p:cNvSpPr>
            <a:spLocks noGrp="1"/>
          </p:cNvSpPr>
          <p:nvPr>
            <p:ph type="title"/>
          </p:nvPr>
        </p:nvSpPr>
        <p:spPr>
          <a:xfrm>
            <a:off x="1507067" y="0"/>
            <a:ext cx="6554867" cy="1524000"/>
          </a:xfrm>
        </p:spPr>
        <p:txBody>
          <a:bodyPr/>
          <a:lstStyle/>
          <a:p>
            <a:r>
              <a:rPr dirty="0">
                <a:solidFill>
                  <a:schemeClr val="accent6"/>
                </a:solidFill>
              </a:rPr>
              <a:t>Churn Prediction </a:t>
            </a:r>
            <a:r>
              <a:rPr lang="en-IN" dirty="0">
                <a:solidFill>
                  <a:schemeClr val="accent6"/>
                </a:solidFill>
              </a:rPr>
              <a:t>&amp; ANALYSIS</a:t>
            </a:r>
            <a:endParaRPr dirty="0">
              <a:solidFill>
                <a:schemeClr val="accent6"/>
              </a:solidFill>
            </a:endParaRPr>
          </a:p>
        </p:txBody>
      </p:sp>
      <p:sp>
        <p:nvSpPr>
          <p:cNvPr id="3" name="Content Placeholder 2">
            <a:extLst>
              <a:ext uri="{FF2B5EF4-FFF2-40B4-BE49-F238E27FC236}">
                <a16:creationId xmlns:a16="http://schemas.microsoft.com/office/drawing/2014/main" id="{030C484A-19F4-ACA1-3160-E45D7028DB32}"/>
              </a:ext>
            </a:extLst>
          </p:cNvPr>
          <p:cNvSpPr>
            <a:spLocks noGrp="1"/>
          </p:cNvSpPr>
          <p:nvPr>
            <p:ph idx="1"/>
          </p:nvPr>
        </p:nvSpPr>
        <p:spPr>
          <a:xfrm>
            <a:off x="397930" y="-8466"/>
            <a:ext cx="7975599" cy="3767670"/>
          </a:xfrm>
        </p:spPr>
        <p:txBody>
          <a:bodyPr/>
          <a:lstStyle/>
          <a:p>
            <a:pPr marL="0" indent="0" algn="ctr">
              <a:buNone/>
            </a:pPr>
            <a:endParaRPr lang="en-US" dirty="0">
              <a:latin typeface="Cambria" panose="02040503050406030204" pitchFamily="18" charset="0"/>
              <a:ea typeface="Cambria" panose="02040503050406030204" pitchFamily="18" charset="0"/>
            </a:endParaRPr>
          </a:p>
          <a:p>
            <a:pPr marL="0" indent="0" algn="ctr">
              <a:buNone/>
            </a:pPr>
            <a:r>
              <a:rPr lang="en-US" dirty="0">
                <a:latin typeface="Cambria" panose="02040503050406030204" pitchFamily="18" charset="0"/>
                <a:ea typeface="Cambria" panose="02040503050406030204" pitchFamily="18" charset="0"/>
              </a:rPr>
              <a:t>Problem Statement -4</a:t>
            </a:r>
          </a:p>
          <a:p>
            <a:pPr marL="0" indent="0" algn="ctr">
              <a:buNone/>
            </a:pPr>
            <a:r>
              <a:rPr lang="en-US" dirty="0">
                <a:latin typeface="Cambria" panose="02040503050406030204" pitchFamily="18" charset="0"/>
                <a:ea typeface="Cambria" panose="02040503050406030204" pitchFamily="18" charset="0"/>
              </a:rPr>
              <a:t>To find out the ratio of active member churns to dormant account churns are higher in female customers or for male customers?</a:t>
            </a:r>
            <a:endParaRPr dirty="0"/>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ABA58DB7-66F6-D47C-224F-58A2C1061FF8}"/>
                  </a:ext>
                </a:extLst>
              </p:cNvPr>
              <p:cNvSpPr/>
              <p:nvPr/>
            </p:nvSpPr>
            <p:spPr>
              <a:xfrm>
                <a:off x="1668885" y="5003280"/>
                <a:ext cx="5960533" cy="7709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a:rPr lang="en-US" b="0" i="1" smtClean="0">
                        <a:latin typeface="Cambria Math" panose="02040503050406030204" pitchFamily="18" charset="0"/>
                      </a:rPr>
                      <m:t>𝐹𝑜𝑟</m:t>
                    </m:r>
                    <m:r>
                      <a:rPr lang="en-US" b="0" i="1" smtClean="0">
                        <a:latin typeface="Cambria Math" panose="02040503050406030204" pitchFamily="18" charset="0"/>
                      </a:rPr>
                      <m:t> </m:t>
                    </m:r>
                    <m:r>
                      <a:rPr lang="en-US" b="0" i="1" smtClean="0">
                        <a:latin typeface="Cambria Math" panose="02040503050406030204" pitchFamily="18" charset="0"/>
                      </a:rPr>
                      <m:t>𝐹𝑒𝑚𝑎𝑙𝑒𝑠</m:t>
                    </m:r>
                    <m:r>
                      <a:rPr lang="en-US" b="0" i="1" smtClean="0">
                        <a:latin typeface="Cambria Math" panose="02040503050406030204" pitchFamily="18" charset="0"/>
                      </a:rPr>
                      <m:t> :414/725</m:t>
                    </m:r>
                  </m:oMath>
                </a14:m>
                <a:r>
                  <a:rPr lang="en-IN" dirty="0"/>
                  <a:t> =0.57</a:t>
                </a:r>
              </a:p>
              <a:p>
                <a:pPr algn="ctr"/>
                <a14:m>
                  <m:oMath xmlns:m="http://schemas.openxmlformats.org/officeDocument/2006/math">
                    <m:r>
                      <a:rPr lang="en-US" i="1">
                        <a:latin typeface="Cambria Math" panose="02040503050406030204" pitchFamily="18" charset="0"/>
                      </a:rPr>
                      <m:t>𝐹𝑜𝑟</m:t>
                    </m:r>
                    <m:r>
                      <a:rPr lang="en-US" i="1">
                        <a:latin typeface="Cambria Math" panose="02040503050406030204" pitchFamily="18" charset="0"/>
                      </a:rPr>
                      <m:t> </m:t>
                    </m:r>
                    <m:r>
                      <a:rPr lang="en-US" b="0" i="1" smtClean="0">
                        <a:latin typeface="Cambria Math" panose="02040503050406030204" pitchFamily="18" charset="0"/>
                      </a:rPr>
                      <m:t>𝑀</m:t>
                    </m:r>
                    <m:r>
                      <a:rPr lang="en-US" i="1">
                        <a:latin typeface="Cambria Math" panose="02040503050406030204" pitchFamily="18" charset="0"/>
                      </a:rPr>
                      <m:t>𝑎𝑙𝑒𝑠</m:t>
                    </m:r>
                    <m:r>
                      <a:rPr lang="en-US" i="1">
                        <a:latin typeface="Cambria Math" panose="02040503050406030204" pitchFamily="18" charset="0"/>
                      </a:rPr>
                      <m:t> :321/577</m:t>
                    </m:r>
                  </m:oMath>
                </a14:m>
                <a:r>
                  <a:rPr lang="en-IN" dirty="0"/>
                  <a:t> =0.55</a:t>
                </a:r>
              </a:p>
            </p:txBody>
          </p:sp>
        </mc:Choice>
        <mc:Fallback xmlns="">
          <p:sp>
            <p:nvSpPr>
              <p:cNvPr id="17" name="Rectangle 16">
                <a:extLst>
                  <a:ext uri="{FF2B5EF4-FFF2-40B4-BE49-F238E27FC236}">
                    <a16:creationId xmlns:a16="http://schemas.microsoft.com/office/drawing/2014/main" id="{ABA58DB7-66F6-D47C-224F-58A2C1061FF8}"/>
                  </a:ext>
                </a:extLst>
              </p:cNvPr>
              <p:cNvSpPr>
                <a:spLocks noRot="1" noChangeAspect="1" noMove="1" noResize="1" noEditPoints="1" noAdjustHandles="1" noChangeArrowheads="1" noChangeShapeType="1" noTextEdit="1"/>
              </p:cNvSpPr>
              <p:nvPr/>
            </p:nvSpPr>
            <p:spPr>
              <a:xfrm>
                <a:off x="1668885" y="5003280"/>
                <a:ext cx="5960533" cy="770987"/>
              </a:xfrm>
              <a:prstGeom prst="rect">
                <a:avLst/>
              </a:prstGeom>
              <a:blipFill>
                <a:blip r:embed="rId2"/>
                <a:stretch>
                  <a:fillRect b="-3125"/>
                </a:stretch>
              </a:blipFill>
            </p:spPr>
            <p:txBody>
              <a:bodyPr/>
              <a:lstStyle/>
              <a:p>
                <a:r>
                  <a:rPr lang="en-IN">
                    <a:noFill/>
                  </a:rPr>
                  <a:t> </a:t>
                </a:r>
              </a:p>
            </p:txBody>
          </p:sp>
        </mc:Fallback>
      </mc:AlternateContent>
      <p:graphicFrame>
        <p:nvGraphicFramePr>
          <p:cNvPr id="7" name="Table 6">
            <a:extLst>
              <a:ext uri="{FF2B5EF4-FFF2-40B4-BE49-F238E27FC236}">
                <a16:creationId xmlns:a16="http://schemas.microsoft.com/office/drawing/2014/main" id="{847699D7-F5AA-F29D-070E-724C0B07F941}"/>
              </a:ext>
            </a:extLst>
          </p:cNvPr>
          <p:cNvGraphicFramePr>
            <a:graphicFrameLocks noGrp="1"/>
          </p:cNvGraphicFramePr>
          <p:nvPr>
            <p:extLst>
              <p:ext uri="{D42A27DB-BD31-4B8C-83A1-F6EECF244321}">
                <p14:modId xmlns:p14="http://schemas.microsoft.com/office/powerpoint/2010/main" val="569461645"/>
              </p:ext>
            </p:extLst>
          </p:nvPr>
        </p:nvGraphicFramePr>
        <p:xfrm>
          <a:off x="397929" y="2844800"/>
          <a:ext cx="3293537" cy="914404"/>
        </p:xfrm>
        <a:graphic>
          <a:graphicData uri="http://schemas.openxmlformats.org/drawingml/2006/table">
            <a:tbl>
              <a:tblPr/>
              <a:tblGrid>
                <a:gridCol w="913046">
                  <a:extLst>
                    <a:ext uri="{9D8B030D-6E8A-4147-A177-3AD203B41FA5}">
                      <a16:colId xmlns:a16="http://schemas.microsoft.com/office/drawing/2014/main" val="52856070"/>
                    </a:ext>
                  </a:extLst>
                </a:gridCol>
                <a:gridCol w="1314233">
                  <a:extLst>
                    <a:ext uri="{9D8B030D-6E8A-4147-A177-3AD203B41FA5}">
                      <a16:colId xmlns:a16="http://schemas.microsoft.com/office/drawing/2014/main" val="150359523"/>
                    </a:ext>
                  </a:extLst>
                </a:gridCol>
                <a:gridCol w="277718">
                  <a:extLst>
                    <a:ext uri="{9D8B030D-6E8A-4147-A177-3AD203B41FA5}">
                      <a16:colId xmlns:a16="http://schemas.microsoft.com/office/drawing/2014/main" val="1977340661"/>
                    </a:ext>
                  </a:extLst>
                </a:gridCol>
                <a:gridCol w="788540">
                  <a:extLst>
                    <a:ext uri="{9D8B030D-6E8A-4147-A177-3AD203B41FA5}">
                      <a16:colId xmlns:a16="http://schemas.microsoft.com/office/drawing/2014/main" val="3472014645"/>
                    </a:ext>
                  </a:extLst>
                </a:gridCol>
              </a:tblGrid>
              <a:tr h="182884">
                <a:tc>
                  <a:txBody>
                    <a:bodyPr/>
                    <a:lstStyle/>
                    <a:p>
                      <a:pPr algn="l" fontAlgn="b">
                        <a:buNone/>
                      </a:pPr>
                      <a:r>
                        <a:rPr lang="en-IN" sz="1100" b="1" i="0" u="none" strike="noStrike">
                          <a:solidFill>
                            <a:srgbClr val="000000"/>
                          </a:solidFill>
                          <a:effectLst/>
                          <a:latin typeface="Aptos Narrow" panose="020B0004020202020204" pitchFamily="34" charset="0"/>
                        </a:rPr>
                        <a:t>Sum of Exited</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Is active member</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495970440"/>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Gender</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816015038"/>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Female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725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414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1139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0556871"/>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Male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577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321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898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7675538"/>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1302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735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2037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3553511874"/>
                  </a:ext>
                </a:extLst>
              </a:tr>
            </a:tbl>
          </a:graphicData>
        </a:graphic>
      </p:graphicFrame>
      <p:graphicFrame>
        <p:nvGraphicFramePr>
          <p:cNvPr id="8" name="Table 7">
            <a:extLst>
              <a:ext uri="{FF2B5EF4-FFF2-40B4-BE49-F238E27FC236}">
                <a16:creationId xmlns:a16="http://schemas.microsoft.com/office/drawing/2014/main" id="{F5E06501-5A0E-1DE7-610B-ECD023B09217}"/>
              </a:ext>
            </a:extLst>
          </p:cNvPr>
          <p:cNvGraphicFramePr>
            <a:graphicFrameLocks noGrp="1"/>
          </p:cNvGraphicFramePr>
          <p:nvPr>
            <p:extLst>
              <p:ext uri="{D42A27DB-BD31-4B8C-83A1-F6EECF244321}">
                <p14:modId xmlns:p14="http://schemas.microsoft.com/office/powerpoint/2010/main" val="638354013"/>
              </p:ext>
            </p:extLst>
          </p:nvPr>
        </p:nvGraphicFramePr>
        <p:xfrm>
          <a:off x="397930" y="3741160"/>
          <a:ext cx="2044700" cy="365760"/>
        </p:xfrm>
        <a:graphic>
          <a:graphicData uri="http://schemas.openxmlformats.org/drawingml/2006/table">
            <a:tbl>
              <a:tblPr/>
              <a:tblGrid>
                <a:gridCol w="2044700">
                  <a:extLst>
                    <a:ext uri="{9D8B030D-6E8A-4147-A177-3AD203B41FA5}">
                      <a16:colId xmlns:a16="http://schemas.microsoft.com/office/drawing/2014/main" val="3686917204"/>
                    </a:ext>
                  </a:extLst>
                </a:gridCol>
              </a:tblGrid>
              <a:tr h="182880">
                <a:tc>
                  <a:txBody>
                    <a:bodyPr/>
                    <a:lstStyle/>
                    <a:p>
                      <a:pPr algn="l" fontAlgn="b">
                        <a:buNone/>
                      </a:pPr>
                      <a:r>
                        <a:rPr lang="en-US" sz="1100" b="1" i="0" u="none" strike="noStrike" dirty="0">
                          <a:solidFill>
                            <a:srgbClr val="000000"/>
                          </a:solidFill>
                          <a:effectLst/>
                          <a:latin typeface="Aptos Narrow" panose="020B0004020202020204" pitchFamily="34" charset="0"/>
                        </a:rPr>
                        <a:t>0-  Not an active member</a:t>
                      </a:r>
                    </a:p>
                  </a:txBody>
                  <a:tcPr marL="7620" marR="7620" marT="7620" marB="0" anchor="b">
                    <a:lnL>
                      <a:noFill/>
                    </a:lnL>
                    <a:lnR>
                      <a:noFill/>
                    </a:lnR>
                    <a:lnT>
                      <a:noFill/>
                    </a:lnT>
                    <a:lnB>
                      <a:noFill/>
                    </a:lnB>
                    <a:noFill/>
                  </a:tcPr>
                </a:tc>
                <a:extLst>
                  <a:ext uri="{0D108BD9-81ED-4DB2-BD59-A6C34878D82A}">
                    <a16:rowId xmlns:a16="http://schemas.microsoft.com/office/drawing/2014/main" val="3553421820"/>
                  </a:ext>
                </a:extLst>
              </a:tr>
              <a:tr h="182880">
                <a:tc>
                  <a:txBody>
                    <a:bodyPr/>
                    <a:lstStyle/>
                    <a:p>
                      <a:pPr algn="l" fontAlgn="b">
                        <a:buNone/>
                      </a:pPr>
                      <a:r>
                        <a:rPr lang="en-IN" sz="1100" b="1" i="0" u="none" strike="noStrike" dirty="0">
                          <a:solidFill>
                            <a:srgbClr val="000000"/>
                          </a:solidFill>
                          <a:effectLst/>
                          <a:latin typeface="Aptos Narrow" panose="020B0004020202020204" pitchFamily="34" charset="0"/>
                        </a:rPr>
                        <a:t>1- Active member</a:t>
                      </a:r>
                    </a:p>
                  </a:txBody>
                  <a:tcPr marL="7620" marR="7620" marT="7620" marB="0" anchor="b">
                    <a:lnL>
                      <a:noFill/>
                    </a:lnL>
                    <a:lnR>
                      <a:noFill/>
                    </a:lnR>
                    <a:lnT>
                      <a:noFill/>
                    </a:lnT>
                    <a:lnB>
                      <a:noFill/>
                    </a:lnB>
                    <a:noFill/>
                  </a:tcPr>
                </a:tc>
                <a:extLst>
                  <a:ext uri="{0D108BD9-81ED-4DB2-BD59-A6C34878D82A}">
                    <a16:rowId xmlns:a16="http://schemas.microsoft.com/office/drawing/2014/main" val="2135186304"/>
                  </a:ext>
                </a:extLst>
              </a:tr>
            </a:tbl>
          </a:graphicData>
        </a:graphic>
      </p:graphicFrame>
      <p:graphicFrame>
        <p:nvGraphicFramePr>
          <p:cNvPr id="9" name="Chart 8">
            <a:extLst>
              <a:ext uri="{FF2B5EF4-FFF2-40B4-BE49-F238E27FC236}">
                <a16:creationId xmlns:a16="http://schemas.microsoft.com/office/drawing/2014/main" id="{B5C5591F-3BAC-5B66-27AB-F906A0C5C0AE}"/>
              </a:ext>
            </a:extLst>
          </p:cNvPr>
          <p:cNvGraphicFramePr>
            <a:graphicFrameLocks/>
          </p:cNvGraphicFramePr>
          <p:nvPr>
            <p:extLst>
              <p:ext uri="{D42A27DB-BD31-4B8C-83A1-F6EECF244321}">
                <p14:modId xmlns:p14="http://schemas.microsoft.com/office/powerpoint/2010/main" val="2909238066"/>
              </p:ext>
            </p:extLst>
          </p:nvPr>
        </p:nvGraphicFramePr>
        <p:xfrm>
          <a:off x="3987795" y="2735320"/>
          <a:ext cx="4260405" cy="222614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04085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1FC4A930-D8A1-D4FE-8F82-F48920498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1B94F-B35B-022F-EBA8-A6D1B366D7C6}"/>
              </a:ext>
            </a:extLst>
          </p:cNvPr>
          <p:cNvSpPr>
            <a:spLocks noGrp="1"/>
          </p:cNvSpPr>
          <p:nvPr>
            <p:ph type="title"/>
          </p:nvPr>
        </p:nvSpPr>
        <p:spPr>
          <a:xfrm>
            <a:off x="1507067" y="0"/>
            <a:ext cx="6554867" cy="1524000"/>
          </a:xfrm>
        </p:spPr>
        <p:txBody>
          <a:bodyPr/>
          <a:lstStyle/>
          <a:p>
            <a:r>
              <a:rPr dirty="0">
                <a:solidFill>
                  <a:schemeClr val="accent6"/>
                </a:solidFill>
              </a:rPr>
              <a:t>Churn Prediction </a:t>
            </a:r>
            <a:r>
              <a:rPr lang="en-IN" dirty="0">
                <a:solidFill>
                  <a:schemeClr val="accent6"/>
                </a:solidFill>
              </a:rPr>
              <a:t>&amp; ANALYSIS</a:t>
            </a:r>
            <a:endParaRPr dirty="0">
              <a:solidFill>
                <a:schemeClr val="accent6"/>
              </a:solidFill>
            </a:endParaRPr>
          </a:p>
        </p:txBody>
      </p:sp>
      <p:sp>
        <p:nvSpPr>
          <p:cNvPr id="3" name="Content Placeholder 2">
            <a:extLst>
              <a:ext uri="{FF2B5EF4-FFF2-40B4-BE49-F238E27FC236}">
                <a16:creationId xmlns:a16="http://schemas.microsoft.com/office/drawing/2014/main" id="{430597FE-988A-D023-14B3-795BADC0AE1D}"/>
              </a:ext>
            </a:extLst>
          </p:cNvPr>
          <p:cNvSpPr>
            <a:spLocks noGrp="1"/>
          </p:cNvSpPr>
          <p:nvPr>
            <p:ph idx="1"/>
          </p:nvPr>
        </p:nvSpPr>
        <p:spPr>
          <a:xfrm>
            <a:off x="397930" y="-8466"/>
            <a:ext cx="7975599" cy="3767670"/>
          </a:xfrm>
        </p:spPr>
        <p:txBody>
          <a:bodyPr/>
          <a:lstStyle/>
          <a:p>
            <a:pPr marL="0" indent="0" algn="ctr">
              <a:buNone/>
            </a:pPr>
            <a:endParaRPr lang="en-US" dirty="0">
              <a:latin typeface="Cambria" panose="02040503050406030204" pitchFamily="18" charset="0"/>
              <a:ea typeface="Cambria" panose="02040503050406030204" pitchFamily="18" charset="0"/>
            </a:endParaRPr>
          </a:p>
          <a:p>
            <a:pPr marL="0" indent="0" algn="ctr">
              <a:buNone/>
            </a:pPr>
            <a:r>
              <a:rPr lang="en-US" dirty="0">
                <a:latin typeface="Cambria" panose="02040503050406030204" pitchFamily="18" charset="0"/>
                <a:ea typeface="Cambria" panose="02040503050406030204" pitchFamily="18" charset="0"/>
              </a:rPr>
              <a:t>Problem Statement -5</a:t>
            </a:r>
          </a:p>
          <a:p>
            <a:pPr marL="0" indent="0" algn="ctr">
              <a:buNone/>
            </a:pPr>
            <a:r>
              <a:rPr lang="en-US" dirty="0">
                <a:latin typeface="Cambria" panose="02040503050406030204" pitchFamily="18" charset="0"/>
                <a:ea typeface="Cambria" panose="02040503050406030204" pitchFamily="18" charset="0"/>
              </a:rPr>
              <a:t>To find out the age group observing maximum number of customer churns in each country?</a:t>
            </a:r>
            <a:endParaRPr dirty="0"/>
          </a:p>
        </p:txBody>
      </p:sp>
      <p:sp>
        <p:nvSpPr>
          <p:cNvPr id="17" name="Rectangle 16">
            <a:extLst>
              <a:ext uri="{FF2B5EF4-FFF2-40B4-BE49-F238E27FC236}">
                <a16:creationId xmlns:a16="http://schemas.microsoft.com/office/drawing/2014/main" id="{968D099B-9775-F483-AEFF-4049D0B7F43F}"/>
              </a:ext>
            </a:extLst>
          </p:cNvPr>
          <p:cNvSpPr/>
          <p:nvPr/>
        </p:nvSpPr>
        <p:spPr>
          <a:xfrm>
            <a:off x="1507067" y="5891104"/>
            <a:ext cx="5960533" cy="6705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Ans: Age-group 43-48</a:t>
            </a:r>
            <a:endParaRPr lang="en-IN" dirty="0"/>
          </a:p>
        </p:txBody>
      </p:sp>
      <p:graphicFrame>
        <p:nvGraphicFramePr>
          <p:cNvPr id="6" name="Chart 5">
            <a:extLst>
              <a:ext uri="{FF2B5EF4-FFF2-40B4-BE49-F238E27FC236}">
                <a16:creationId xmlns:a16="http://schemas.microsoft.com/office/drawing/2014/main" id="{EA5B7144-AC45-A6FB-60B8-610D5C7CAD9F}"/>
              </a:ext>
            </a:extLst>
          </p:cNvPr>
          <p:cNvGraphicFramePr>
            <a:graphicFrameLocks/>
          </p:cNvGraphicFramePr>
          <p:nvPr>
            <p:extLst>
              <p:ext uri="{D42A27DB-BD31-4B8C-83A1-F6EECF244321}">
                <p14:modId xmlns:p14="http://schemas.microsoft.com/office/powerpoint/2010/main" val="4226031426"/>
              </p:ext>
            </p:extLst>
          </p:nvPr>
        </p:nvGraphicFramePr>
        <p:xfrm>
          <a:off x="397930" y="2969260"/>
          <a:ext cx="8415870" cy="25450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74154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7552F226-7EEA-DAFD-866E-8A4B718ED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A35D6-CEAC-574F-D13E-538C4B81AF2E}"/>
              </a:ext>
            </a:extLst>
          </p:cNvPr>
          <p:cNvSpPr>
            <a:spLocks noGrp="1"/>
          </p:cNvSpPr>
          <p:nvPr>
            <p:ph type="title"/>
          </p:nvPr>
        </p:nvSpPr>
        <p:spPr>
          <a:xfrm>
            <a:off x="1507067" y="0"/>
            <a:ext cx="6554867" cy="1524000"/>
          </a:xfrm>
        </p:spPr>
        <p:txBody>
          <a:bodyPr/>
          <a:lstStyle/>
          <a:p>
            <a:r>
              <a:rPr dirty="0">
                <a:solidFill>
                  <a:schemeClr val="accent6"/>
                </a:solidFill>
              </a:rPr>
              <a:t>Churn Prediction </a:t>
            </a:r>
            <a:r>
              <a:rPr lang="en-IN" dirty="0">
                <a:solidFill>
                  <a:schemeClr val="accent6"/>
                </a:solidFill>
              </a:rPr>
              <a:t>&amp; ANALYSIS</a:t>
            </a:r>
            <a:endParaRPr dirty="0">
              <a:solidFill>
                <a:schemeClr val="accent6"/>
              </a:solidFill>
            </a:endParaRPr>
          </a:p>
        </p:txBody>
      </p:sp>
      <p:sp>
        <p:nvSpPr>
          <p:cNvPr id="3" name="Content Placeholder 2">
            <a:extLst>
              <a:ext uri="{FF2B5EF4-FFF2-40B4-BE49-F238E27FC236}">
                <a16:creationId xmlns:a16="http://schemas.microsoft.com/office/drawing/2014/main" id="{BEC801E8-2471-F2C8-110F-E2054E568655}"/>
              </a:ext>
            </a:extLst>
          </p:cNvPr>
          <p:cNvSpPr>
            <a:spLocks noGrp="1"/>
          </p:cNvSpPr>
          <p:nvPr>
            <p:ph idx="1"/>
          </p:nvPr>
        </p:nvSpPr>
        <p:spPr>
          <a:xfrm>
            <a:off x="397930" y="-8466"/>
            <a:ext cx="7975599" cy="3767670"/>
          </a:xfrm>
        </p:spPr>
        <p:txBody>
          <a:bodyPr/>
          <a:lstStyle/>
          <a:p>
            <a:pPr marL="0" indent="0" algn="ctr">
              <a:buNone/>
            </a:pPr>
            <a:endParaRPr lang="en-US" dirty="0">
              <a:latin typeface="Cambria" panose="02040503050406030204" pitchFamily="18" charset="0"/>
              <a:ea typeface="Cambria" panose="02040503050406030204" pitchFamily="18" charset="0"/>
            </a:endParaRPr>
          </a:p>
          <a:p>
            <a:pPr marL="0" indent="0" algn="ctr">
              <a:buNone/>
            </a:pPr>
            <a:r>
              <a:rPr lang="en-US" dirty="0">
                <a:latin typeface="Cambria" panose="02040503050406030204" pitchFamily="18" charset="0"/>
                <a:ea typeface="Cambria" panose="02040503050406030204" pitchFamily="18" charset="0"/>
              </a:rPr>
              <a:t>Problem Statement -6</a:t>
            </a:r>
          </a:p>
          <a:p>
            <a:pPr marL="0" indent="0" algn="ctr">
              <a:buNone/>
            </a:pPr>
            <a:r>
              <a:rPr lang="en-US" dirty="0">
                <a:latin typeface="Cambria" panose="02040503050406030204" pitchFamily="18" charset="0"/>
                <a:ea typeface="Cambria" panose="02040503050406030204" pitchFamily="18" charset="0"/>
              </a:rPr>
              <a:t>To find out whether the bank is able to retain the customers having more number of products or not?</a:t>
            </a:r>
          </a:p>
          <a:p>
            <a:pPr marL="0" indent="0" algn="ctr">
              <a:buNone/>
            </a:pPr>
            <a:endParaRPr dirty="0"/>
          </a:p>
        </p:txBody>
      </p:sp>
      <p:sp>
        <p:nvSpPr>
          <p:cNvPr id="17" name="Rectangle 16">
            <a:extLst>
              <a:ext uri="{FF2B5EF4-FFF2-40B4-BE49-F238E27FC236}">
                <a16:creationId xmlns:a16="http://schemas.microsoft.com/office/drawing/2014/main" id="{30585C4D-89F0-592B-EB5F-31FF8A5815EC}"/>
              </a:ext>
            </a:extLst>
          </p:cNvPr>
          <p:cNvSpPr/>
          <p:nvPr/>
        </p:nvSpPr>
        <p:spPr>
          <a:xfrm>
            <a:off x="1397001" y="5891104"/>
            <a:ext cx="6400800" cy="6705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Ans: Yes, Churn observed is higher for customers having lesser products.</a:t>
            </a:r>
            <a:endParaRPr lang="en-IN" dirty="0"/>
          </a:p>
        </p:txBody>
      </p:sp>
      <p:graphicFrame>
        <p:nvGraphicFramePr>
          <p:cNvPr id="4" name="Table 3">
            <a:extLst>
              <a:ext uri="{FF2B5EF4-FFF2-40B4-BE49-F238E27FC236}">
                <a16:creationId xmlns:a16="http://schemas.microsoft.com/office/drawing/2014/main" id="{6CDE85AA-9525-9C0B-CFB1-D14ECCDF9A2C}"/>
              </a:ext>
            </a:extLst>
          </p:cNvPr>
          <p:cNvGraphicFramePr>
            <a:graphicFrameLocks noGrp="1"/>
          </p:cNvGraphicFramePr>
          <p:nvPr>
            <p:extLst>
              <p:ext uri="{D42A27DB-BD31-4B8C-83A1-F6EECF244321}">
                <p14:modId xmlns:p14="http://schemas.microsoft.com/office/powerpoint/2010/main" val="2237775981"/>
              </p:ext>
            </p:extLst>
          </p:nvPr>
        </p:nvGraphicFramePr>
        <p:xfrm>
          <a:off x="203994" y="2691289"/>
          <a:ext cx="3860800" cy="1280160"/>
        </p:xfrm>
        <a:graphic>
          <a:graphicData uri="http://schemas.openxmlformats.org/drawingml/2006/table">
            <a:tbl>
              <a:tblPr/>
              <a:tblGrid>
                <a:gridCol w="1498600">
                  <a:extLst>
                    <a:ext uri="{9D8B030D-6E8A-4147-A177-3AD203B41FA5}">
                      <a16:colId xmlns:a16="http://schemas.microsoft.com/office/drawing/2014/main" val="876971237"/>
                    </a:ext>
                  </a:extLst>
                </a:gridCol>
                <a:gridCol w="660400">
                  <a:extLst>
                    <a:ext uri="{9D8B030D-6E8A-4147-A177-3AD203B41FA5}">
                      <a16:colId xmlns:a16="http://schemas.microsoft.com/office/drawing/2014/main" val="3218570969"/>
                    </a:ext>
                  </a:extLst>
                </a:gridCol>
                <a:gridCol w="584200">
                  <a:extLst>
                    <a:ext uri="{9D8B030D-6E8A-4147-A177-3AD203B41FA5}">
                      <a16:colId xmlns:a16="http://schemas.microsoft.com/office/drawing/2014/main" val="1895626080"/>
                    </a:ext>
                  </a:extLst>
                </a:gridCol>
                <a:gridCol w="393700">
                  <a:extLst>
                    <a:ext uri="{9D8B030D-6E8A-4147-A177-3AD203B41FA5}">
                      <a16:colId xmlns:a16="http://schemas.microsoft.com/office/drawing/2014/main" val="2342996306"/>
                    </a:ext>
                  </a:extLst>
                </a:gridCol>
                <a:gridCol w="723900">
                  <a:extLst>
                    <a:ext uri="{9D8B030D-6E8A-4147-A177-3AD203B41FA5}">
                      <a16:colId xmlns:a16="http://schemas.microsoft.com/office/drawing/2014/main" val="2946212413"/>
                    </a:ext>
                  </a:extLst>
                </a:gridCol>
              </a:tblGrid>
              <a:tr h="182880">
                <a:tc>
                  <a:txBody>
                    <a:bodyPr/>
                    <a:lstStyle/>
                    <a:p>
                      <a:pPr algn="l" fontAlgn="b">
                        <a:buNone/>
                      </a:pPr>
                      <a:r>
                        <a:rPr lang="en-IN" sz="1100" b="1" i="0" u="none" strike="noStrike">
                          <a:solidFill>
                            <a:srgbClr val="000000"/>
                          </a:solidFill>
                          <a:effectLst/>
                          <a:latin typeface="Aptos Narrow" panose="020B0004020202020204" pitchFamily="34" charset="0"/>
                        </a:rPr>
                        <a:t>Sum of Exited</a:t>
                      </a:r>
                    </a:p>
                  </a:txBody>
                  <a:tcPr marL="7620" marR="7620" marT="7620" marB="0" anchor="b">
                    <a:lnL>
                      <a:noFill/>
                    </a:lnL>
                    <a:lnR>
                      <a:noFill/>
                    </a:lnR>
                    <a:lnT>
                      <a:noFill/>
                    </a:lnT>
                    <a:lnB>
                      <a:noFill/>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Country</a:t>
                      </a: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extLst>
                  <a:ext uri="{0D108BD9-81ED-4DB2-BD59-A6C34878D82A}">
                    <a16:rowId xmlns:a16="http://schemas.microsoft.com/office/drawing/2014/main" val="3124182846"/>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No. of products owned</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France</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Germany</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Spain</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3276837618"/>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564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dirty="0">
                          <a:solidFill>
                            <a:srgbClr val="000000"/>
                          </a:solidFill>
                          <a:effectLst/>
                          <a:latin typeface="Aptos Narrow" panose="020B0004020202020204" pitchFamily="34" charset="0"/>
                        </a:rPr>
                        <a:t>578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267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1409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6339006"/>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126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87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348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352124"/>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82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86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52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3858353"/>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60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754630248"/>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810</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814</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413</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2037</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extLst>
                  <a:ext uri="{0D108BD9-81ED-4DB2-BD59-A6C34878D82A}">
                    <a16:rowId xmlns:a16="http://schemas.microsoft.com/office/drawing/2014/main" val="2399716376"/>
                  </a:ext>
                </a:extLst>
              </a:tr>
            </a:tbl>
          </a:graphicData>
        </a:graphic>
      </p:graphicFrame>
      <p:graphicFrame>
        <p:nvGraphicFramePr>
          <p:cNvPr id="5" name="Chart 4">
            <a:extLst>
              <a:ext uri="{FF2B5EF4-FFF2-40B4-BE49-F238E27FC236}">
                <a16:creationId xmlns:a16="http://schemas.microsoft.com/office/drawing/2014/main" id="{1340BA6A-1EDA-8BDA-96CC-0EA5345E82FD}"/>
              </a:ext>
            </a:extLst>
          </p:cNvPr>
          <p:cNvGraphicFramePr>
            <a:graphicFrameLocks/>
          </p:cNvGraphicFramePr>
          <p:nvPr>
            <p:extLst>
              <p:ext uri="{D42A27DB-BD31-4B8C-83A1-F6EECF244321}">
                <p14:modId xmlns:p14="http://schemas.microsoft.com/office/powerpoint/2010/main" val="3465440886"/>
              </p:ext>
            </p:extLst>
          </p:nvPr>
        </p:nvGraphicFramePr>
        <p:xfrm>
          <a:off x="4784500" y="2691289"/>
          <a:ext cx="3860800" cy="296015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45158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80A18F66-B714-6FCB-E167-13ED2F3AD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D179E-B522-FECF-84B0-2BFBF16846ED}"/>
              </a:ext>
            </a:extLst>
          </p:cNvPr>
          <p:cNvSpPr>
            <a:spLocks noGrp="1"/>
          </p:cNvSpPr>
          <p:nvPr>
            <p:ph type="title"/>
          </p:nvPr>
        </p:nvSpPr>
        <p:spPr>
          <a:xfrm>
            <a:off x="1507067" y="0"/>
            <a:ext cx="6554867" cy="1524000"/>
          </a:xfrm>
        </p:spPr>
        <p:txBody>
          <a:bodyPr/>
          <a:lstStyle/>
          <a:p>
            <a:r>
              <a:rPr dirty="0">
                <a:solidFill>
                  <a:schemeClr val="accent6"/>
                </a:solidFill>
              </a:rPr>
              <a:t>Churn Prediction </a:t>
            </a:r>
            <a:r>
              <a:rPr lang="en-IN" dirty="0">
                <a:solidFill>
                  <a:schemeClr val="accent6"/>
                </a:solidFill>
              </a:rPr>
              <a:t>&amp; ANALYSIS</a:t>
            </a:r>
            <a:endParaRPr dirty="0">
              <a:solidFill>
                <a:schemeClr val="accent6"/>
              </a:solidFill>
            </a:endParaRPr>
          </a:p>
        </p:txBody>
      </p:sp>
      <p:sp>
        <p:nvSpPr>
          <p:cNvPr id="3" name="Content Placeholder 2">
            <a:extLst>
              <a:ext uri="{FF2B5EF4-FFF2-40B4-BE49-F238E27FC236}">
                <a16:creationId xmlns:a16="http://schemas.microsoft.com/office/drawing/2014/main" id="{AB1E34C9-A383-8891-70F6-993B1FC2C662}"/>
              </a:ext>
            </a:extLst>
          </p:cNvPr>
          <p:cNvSpPr>
            <a:spLocks noGrp="1"/>
          </p:cNvSpPr>
          <p:nvPr>
            <p:ph idx="1"/>
          </p:nvPr>
        </p:nvSpPr>
        <p:spPr>
          <a:xfrm>
            <a:off x="397930" y="-8466"/>
            <a:ext cx="7975599" cy="3767670"/>
          </a:xfrm>
        </p:spPr>
        <p:txBody>
          <a:bodyPr/>
          <a:lstStyle/>
          <a:p>
            <a:pPr marL="0" indent="0" algn="ctr">
              <a:buNone/>
            </a:pPr>
            <a:endParaRPr lang="en-US" dirty="0">
              <a:latin typeface="Cambria" panose="02040503050406030204" pitchFamily="18" charset="0"/>
              <a:ea typeface="Cambria" panose="02040503050406030204" pitchFamily="18" charset="0"/>
            </a:endParaRPr>
          </a:p>
          <a:p>
            <a:pPr marL="0" indent="0" algn="ctr">
              <a:buNone/>
            </a:pPr>
            <a:r>
              <a:rPr lang="en-US" dirty="0">
                <a:latin typeface="Cambria" panose="02040503050406030204" pitchFamily="18" charset="0"/>
                <a:ea typeface="Cambria" panose="02040503050406030204" pitchFamily="18" charset="0"/>
              </a:rPr>
              <a:t>Problem Statement -7</a:t>
            </a:r>
          </a:p>
          <a:p>
            <a:pPr marL="0" indent="0" algn="ctr">
              <a:buNone/>
            </a:pPr>
            <a:r>
              <a:rPr lang="en-US" dirty="0">
                <a:latin typeface="Cambria" panose="02040503050406030204" pitchFamily="18" charset="0"/>
                <a:ea typeface="Cambria" panose="02040503050406030204" pitchFamily="18" charset="0"/>
              </a:rPr>
              <a:t>To find out the ratio of active and inactive members whom the bank has lost.</a:t>
            </a:r>
          </a:p>
          <a:p>
            <a:pPr marL="0" indent="0" algn="ctr">
              <a:buNone/>
            </a:pPr>
            <a:endParaRPr dirty="0"/>
          </a:p>
        </p:txBody>
      </p:sp>
      <p:sp>
        <p:nvSpPr>
          <p:cNvPr id="17" name="Rectangle 16">
            <a:extLst>
              <a:ext uri="{FF2B5EF4-FFF2-40B4-BE49-F238E27FC236}">
                <a16:creationId xmlns:a16="http://schemas.microsoft.com/office/drawing/2014/main" id="{A705232C-EB1C-1BBA-5AB6-1A42E1520A01}"/>
              </a:ext>
            </a:extLst>
          </p:cNvPr>
          <p:cNvSpPr/>
          <p:nvPr/>
        </p:nvSpPr>
        <p:spPr>
          <a:xfrm>
            <a:off x="1397001" y="5891104"/>
            <a:ext cx="6400800" cy="6705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Ans: Total Ratio:-0.56</a:t>
            </a:r>
          </a:p>
          <a:p>
            <a:pPr algn="ctr"/>
            <a:endParaRPr lang="en-IN" dirty="0"/>
          </a:p>
        </p:txBody>
      </p:sp>
      <p:graphicFrame>
        <p:nvGraphicFramePr>
          <p:cNvPr id="6" name="Table 5">
            <a:extLst>
              <a:ext uri="{FF2B5EF4-FFF2-40B4-BE49-F238E27FC236}">
                <a16:creationId xmlns:a16="http://schemas.microsoft.com/office/drawing/2014/main" id="{0AE14E03-CFA5-4592-5140-B67A12391F2E}"/>
              </a:ext>
            </a:extLst>
          </p:cNvPr>
          <p:cNvGraphicFramePr>
            <a:graphicFrameLocks noGrp="1"/>
          </p:cNvGraphicFramePr>
          <p:nvPr>
            <p:extLst>
              <p:ext uri="{D42A27DB-BD31-4B8C-83A1-F6EECF244321}">
                <p14:modId xmlns:p14="http://schemas.microsoft.com/office/powerpoint/2010/main" val="1995635262"/>
              </p:ext>
            </p:extLst>
          </p:nvPr>
        </p:nvGraphicFramePr>
        <p:xfrm>
          <a:off x="290778" y="2606749"/>
          <a:ext cx="3721100" cy="914400"/>
        </p:xfrm>
        <a:graphic>
          <a:graphicData uri="http://schemas.openxmlformats.org/drawingml/2006/table">
            <a:tbl>
              <a:tblPr/>
              <a:tblGrid>
                <a:gridCol w="1219200">
                  <a:extLst>
                    <a:ext uri="{9D8B030D-6E8A-4147-A177-3AD203B41FA5}">
                      <a16:colId xmlns:a16="http://schemas.microsoft.com/office/drawing/2014/main" val="582577339"/>
                    </a:ext>
                  </a:extLst>
                </a:gridCol>
                <a:gridCol w="800100">
                  <a:extLst>
                    <a:ext uri="{9D8B030D-6E8A-4147-A177-3AD203B41FA5}">
                      <a16:colId xmlns:a16="http://schemas.microsoft.com/office/drawing/2014/main" val="4257382344"/>
                    </a:ext>
                  </a:extLst>
                </a:gridCol>
                <a:gridCol w="584200">
                  <a:extLst>
                    <a:ext uri="{9D8B030D-6E8A-4147-A177-3AD203B41FA5}">
                      <a16:colId xmlns:a16="http://schemas.microsoft.com/office/drawing/2014/main" val="3945312549"/>
                    </a:ext>
                  </a:extLst>
                </a:gridCol>
                <a:gridCol w="393700">
                  <a:extLst>
                    <a:ext uri="{9D8B030D-6E8A-4147-A177-3AD203B41FA5}">
                      <a16:colId xmlns:a16="http://schemas.microsoft.com/office/drawing/2014/main" val="3404892014"/>
                    </a:ext>
                  </a:extLst>
                </a:gridCol>
                <a:gridCol w="723900">
                  <a:extLst>
                    <a:ext uri="{9D8B030D-6E8A-4147-A177-3AD203B41FA5}">
                      <a16:colId xmlns:a16="http://schemas.microsoft.com/office/drawing/2014/main" val="2610012549"/>
                    </a:ext>
                  </a:extLst>
                </a:gridCol>
              </a:tblGrid>
              <a:tr h="182880">
                <a:tc>
                  <a:txBody>
                    <a:bodyPr/>
                    <a:lstStyle/>
                    <a:p>
                      <a:pPr algn="l" fontAlgn="b">
                        <a:buNone/>
                      </a:pPr>
                      <a:r>
                        <a:rPr lang="en-IN" sz="1100" b="1" i="0" u="none" strike="noStrike">
                          <a:solidFill>
                            <a:srgbClr val="000000"/>
                          </a:solidFill>
                          <a:effectLst/>
                          <a:latin typeface="Aptos Narrow" panose="020B0004020202020204" pitchFamily="34" charset="0"/>
                        </a:rPr>
                        <a:t>Sum of Exited</a:t>
                      </a:r>
                    </a:p>
                  </a:txBody>
                  <a:tcPr marL="7620" marR="7620" marT="7620" marB="0" anchor="b">
                    <a:lnL>
                      <a:noFill/>
                    </a:lnL>
                    <a:lnR>
                      <a:noFill/>
                    </a:lnR>
                    <a:lnT>
                      <a:noFill/>
                    </a:lnT>
                    <a:lnB>
                      <a:noFill/>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Age Group</a:t>
                      </a: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tc>
                  <a:txBody>
                    <a:bodyPr/>
                    <a:lstStyle/>
                    <a:p>
                      <a:pPr algn="l" fontAlgn="b">
                        <a:buNone/>
                      </a:pPr>
                      <a:endParaRPr lang="en-IN" sz="1100" b="1" i="0" u="none" strike="noStrike" dirty="0">
                        <a:solidFill>
                          <a:srgbClr val="000000"/>
                        </a:solidFill>
                        <a:effectLst/>
                        <a:latin typeface="Aptos Narrow" panose="020B0004020202020204" pitchFamily="34" charset="0"/>
                      </a:endParaRPr>
                    </a:p>
                  </a:txBody>
                  <a:tcPr marL="7620" marR="7620" marT="7620" marB="0" anchor="b">
                    <a:lnL>
                      <a:noFill/>
                    </a:lnL>
                    <a:lnR>
                      <a:noFill/>
                    </a:lnR>
                    <a:lnT>
                      <a:noFill/>
                    </a:lnT>
                    <a:lnB>
                      <a:noFill/>
                    </a:lnB>
                    <a:solidFill>
                      <a:srgbClr val="F2CEEF"/>
                    </a:solidFill>
                  </a:tcPr>
                </a:tc>
                <a:extLst>
                  <a:ext uri="{0D108BD9-81ED-4DB2-BD59-A6C34878D82A}">
                    <a16:rowId xmlns:a16="http://schemas.microsoft.com/office/drawing/2014/main" val="683253174"/>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Is Active member</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France</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Germany</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Spain</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786804306"/>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512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518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272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1302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7760935"/>
                  </a:ext>
                </a:extLst>
              </a:tr>
              <a:tr h="182880">
                <a:tc>
                  <a:txBody>
                    <a:bodyPr/>
                    <a:lstStyle/>
                    <a:p>
                      <a:pPr algn="l" fontAlgn="b">
                        <a:buNone/>
                      </a:pPr>
                      <a:r>
                        <a:rPr lang="en-IN" sz="1100" b="0" i="0" u="none" strike="noStrike">
                          <a:solidFill>
                            <a:srgbClr val="000000"/>
                          </a:solidFill>
                          <a:effectLst/>
                          <a:latin typeface="Aptos Narrow" panose="020B0004020202020204" pitchFamily="34" charset="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298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296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141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tc>
                  <a:txBody>
                    <a:bodyPr/>
                    <a:lstStyle/>
                    <a:p>
                      <a:pPr algn="r" fontAlgn="b">
                        <a:buNone/>
                      </a:pPr>
                      <a:r>
                        <a:rPr lang="en-IN" sz="1100" b="0" i="0" u="none" strike="noStrike">
                          <a:solidFill>
                            <a:srgbClr val="000000"/>
                          </a:solidFill>
                          <a:effectLst/>
                          <a:latin typeface="Aptos Narrow" panose="020B0004020202020204" pitchFamily="34" charset="0"/>
                        </a:rPr>
                        <a:t>735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86DCD"/>
                      </a:solidFill>
                      <a:prstDash val="solid"/>
                      <a:round/>
                      <a:headEnd type="none" w="med" len="med"/>
                      <a:tailEnd type="none" w="med" len="med"/>
                    </a:lnB>
                    <a:noFill/>
                  </a:tcPr>
                </a:tc>
                <a:extLst>
                  <a:ext uri="{0D108BD9-81ED-4DB2-BD59-A6C34878D82A}">
                    <a16:rowId xmlns:a16="http://schemas.microsoft.com/office/drawing/2014/main" val="3414353242"/>
                  </a:ext>
                </a:extLst>
              </a:tr>
              <a:tr h="182880">
                <a:tc>
                  <a:txBody>
                    <a:bodyPr/>
                    <a:lstStyle/>
                    <a:p>
                      <a:pPr algn="l"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810</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814</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a:solidFill>
                            <a:srgbClr val="000000"/>
                          </a:solidFill>
                          <a:effectLst/>
                          <a:latin typeface="Aptos Narrow" panose="020B0004020202020204" pitchFamily="34" charset="0"/>
                        </a:rPr>
                        <a:t>413</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tc>
                  <a:txBody>
                    <a:bodyPr/>
                    <a:lstStyle/>
                    <a:p>
                      <a:pPr algn="r" fontAlgn="b">
                        <a:buNone/>
                      </a:pPr>
                      <a:r>
                        <a:rPr lang="en-IN" sz="1100" b="1" i="0" u="none" strike="noStrike" dirty="0">
                          <a:solidFill>
                            <a:srgbClr val="000000"/>
                          </a:solidFill>
                          <a:effectLst/>
                          <a:latin typeface="Aptos Narrow" panose="020B0004020202020204" pitchFamily="34" charset="0"/>
                        </a:rPr>
                        <a:t>2037</a:t>
                      </a:r>
                    </a:p>
                  </a:txBody>
                  <a:tcPr marL="7620" marR="7620" marT="7620" marB="0" anchor="b">
                    <a:lnL>
                      <a:noFill/>
                    </a:lnL>
                    <a:lnR>
                      <a:noFill/>
                    </a:lnR>
                    <a:lnT w="6350" cap="flat" cmpd="sng" algn="ctr">
                      <a:solidFill>
                        <a:srgbClr val="D86DCD"/>
                      </a:solidFill>
                      <a:prstDash val="solid"/>
                      <a:round/>
                      <a:headEnd type="none" w="med" len="med"/>
                      <a:tailEnd type="none" w="med" len="med"/>
                    </a:lnT>
                    <a:lnB>
                      <a:noFill/>
                    </a:lnB>
                    <a:solidFill>
                      <a:srgbClr val="F2CEEF"/>
                    </a:solidFill>
                  </a:tcPr>
                </a:tc>
                <a:extLst>
                  <a:ext uri="{0D108BD9-81ED-4DB2-BD59-A6C34878D82A}">
                    <a16:rowId xmlns:a16="http://schemas.microsoft.com/office/drawing/2014/main" val="3544021170"/>
                  </a:ext>
                </a:extLst>
              </a:tr>
            </a:tbl>
          </a:graphicData>
        </a:graphic>
      </p:graphicFrame>
      <p:graphicFrame>
        <p:nvGraphicFramePr>
          <p:cNvPr id="7" name="Table 6">
            <a:extLst>
              <a:ext uri="{FF2B5EF4-FFF2-40B4-BE49-F238E27FC236}">
                <a16:creationId xmlns:a16="http://schemas.microsoft.com/office/drawing/2014/main" id="{F5B76048-A6D5-4A10-CCDE-C07B9542492F}"/>
              </a:ext>
            </a:extLst>
          </p:cNvPr>
          <p:cNvGraphicFramePr>
            <a:graphicFrameLocks noGrp="1"/>
          </p:cNvGraphicFramePr>
          <p:nvPr>
            <p:extLst>
              <p:ext uri="{D42A27DB-BD31-4B8C-83A1-F6EECF244321}">
                <p14:modId xmlns:p14="http://schemas.microsoft.com/office/powerpoint/2010/main" val="940240481"/>
              </p:ext>
            </p:extLst>
          </p:nvPr>
        </p:nvGraphicFramePr>
        <p:xfrm>
          <a:off x="290778" y="3694881"/>
          <a:ext cx="3670300" cy="937260"/>
        </p:xfrm>
        <a:graphic>
          <a:graphicData uri="http://schemas.openxmlformats.org/drawingml/2006/table">
            <a:tbl>
              <a:tblPr/>
              <a:tblGrid>
                <a:gridCol w="1079500">
                  <a:extLst>
                    <a:ext uri="{9D8B030D-6E8A-4147-A177-3AD203B41FA5}">
                      <a16:colId xmlns:a16="http://schemas.microsoft.com/office/drawing/2014/main" val="578038427"/>
                    </a:ext>
                  </a:extLst>
                </a:gridCol>
                <a:gridCol w="698500">
                  <a:extLst>
                    <a:ext uri="{9D8B030D-6E8A-4147-A177-3AD203B41FA5}">
                      <a16:colId xmlns:a16="http://schemas.microsoft.com/office/drawing/2014/main" val="2336798438"/>
                    </a:ext>
                  </a:extLst>
                </a:gridCol>
                <a:gridCol w="584200">
                  <a:extLst>
                    <a:ext uri="{9D8B030D-6E8A-4147-A177-3AD203B41FA5}">
                      <a16:colId xmlns:a16="http://schemas.microsoft.com/office/drawing/2014/main" val="2856070191"/>
                    </a:ext>
                  </a:extLst>
                </a:gridCol>
                <a:gridCol w="393700">
                  <a:extLst>
                    <a:ext uri="{9D8B030D-6E8A-4147-A177-3AD203B41FA5}">
                      <a16:colId xmlns:a16="http://schemas.microsoft.com/office/drawing/2014/main" val="466001577"/>
                    </a:ext>
                  </a:extLst>
                </a:gridCol>
                <a:gridCol w="914400">
                  <a:extLst>
                    <a:ext uri="{9D8B030D-6E8A-4147-A177-3AD203B41FA5}">
                      <a16:colId xmlns:a16="http://schemas.microsoft.com/office/drawing/2014/main" val="1290202952"/>
                    </a:ext>
                  </a:extLst>
                </a:gridCol>
              </a:tblGrid>
              <a:tr h="182880">
                <a:tc>
                  <a:txBody>
                    <a:bodyPr/>
                    <a:lstStyle/>
                    <a:p>
                      <a:pPr algn="ctr" fontAlgn="b">
                        <a:buNone/>
                      </a:pPr>
                      <a:r>
                        <a:rPr lang="en-IN" sz="1100" b="1" i="0" u="none" strike="noStrike">
                          <a:solidFill>
                            <a:srgbClr val="000000"/>
                          </a:solidFill>
                          <a:effectLst/>
                          <a:latin typeface="Aptos Narrow" panose="020B0004020202020204" pitchFamily="34" charset="0"/>
                        </a:rPr>
                        <a:t>Is Active/Inactive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France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Germany</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Spain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Grand Total</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3462079502"/>
                  </a:ext>
                </a:extLst>
              </a:tr>
              <a:tr h="182880">
                <a:tc>
                  <a:txBody>
                    <a:bodyPr/>
                    <a:lstStyle/>
                    <a:p>
                      <a:pPr algn="ctr" fontAlgn="b">
                        <a:buNone/>
                      </a:pPr>
                      <a:r>
                        <a:rPr lang="en-IN" sz="1100" b="1" i="0" u="none" strike="noStrike" dirty="0">
                          <a:solidFill>
                            <a:srgbClr val="000000"/>
                          </a:solidFill>
                          <a:effectLst/>
                          <a:latin typeface="Aptos Narrow" panose="020B0004020202020204" pitchFamily="34" charset="0"/>
                        </a:rPr>
                        <a:t>0(Inactive)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dirty="0">
                          <a:solidFill>
                            <a:srgbClr val="000000"/>
                          </a:solidFill>
                          <a:effectLst/>
                          <a:latin typeface="Aptos Narrow" panose="020B0004020202020204" pitchFamily="34" charset="0"/>
                        </a:rPr>
                        <a:t>512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518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272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dirty="0">
                          <a:solidFill>
                            <a:srgbClr val="000000"/>
                          </a:solidFill>
                          <a:effectLst/>
                          <a:latin typeface="Aptos Narrow" panose="020B0004020202020204" pitchFamily="34" charset="0"/>
                        </a:rPr>
                        <a:t>1302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2420233044"/>
                  </a:ext>
                </a:extLst>
              </a:tr>
              <a:tr h="182880">
                <a:tc>
                  <a:txBody>
                    <a:bodyPr/>
                    <a:lstStyle/>
                    <a:p>
                      <a:pPr algn="ctr" fontAlgn="b">
                        <a:buNone/>
                      </a:pPr>
                      <a:r>
                        <a:rPr lang="en-IN" sz="1100" b="1" i="0" u="none" strike="noStrike" dirty="0">
                          <a:solidFill>
                            <a:srgbClr val="000000"/>
                          </a:solidFill>
                          <a:effectLst/>
                          <a:latin typeface="Aptos Narrow" panose="020B0004020202020204" pitchFamily="34" charset="0"/>
                        </a:rPr>
                        <a:t>1(Active)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298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296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141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dirty="0">
                          <a:solidFill>
                            <a:srgbClr val="000000"/>
                          </a:solidFill>
                          <a:effectLst/>
                          <a:latin typeface="Aptos Narrow" panose="020B0004020202020204" pitchFamily="34" charset="0"/>
                        </a:rPr>
                        <a:t>735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1753003534"/>
                  </a:ext>
                </a:extLst>
              </a:tr>
              <a:tr h="388620">
                <a:tc>
                  <a:txBody>
                    <a:bodyPr/>
                    <a:lstStyle/>
                    <a:p>
                      <a:pPr algn="ctr" fontAlgn="b">
                        <a:buNone/>
                      </a:pPr>
                      <a:r>
                        <a:rPr lang="en-IN" sz="1100" b="1" i="0" u="none" strike="noStrike">
                          <a:solidFill>
                            <a:srgbClr val="000000"/>
                          </a:solidFill>
                          <a:effectLst/>
                          <a:latin typeface="Aptos Narrow" panose="020B0004020202020204" pitchFamily="34" charset="0"/>
                        </a:rPr>
                        <a:t>Ratio </a:t>
                      </a:r>
                      <a:br>
                        <a:rPr lang="en-IN" sz="1100" b="1" i="0" u="none" strike="noStrike">
                          <a:solidFill>
                            <a:srgbClr val="000000"/>
                          </a:solidFill>
                          <a:effectLst/>
                          <a:latin typeface="Aptos Narrow" panose="020B0004020202020204" pitchFamily="34" charset="0"/>
                        </a:rPr>
                      </a:br>
                      <a:r>
                        <a:rPr lang="en-IN" sz="1100" b="1" i="0" u="none" strike="noStrike">
                          <a:solidFill>
                            <a:srgbClr val="000000"/>
                          </a:solidFill>
                          <a:effectLst/>
                          <a:latin typeface="Aptos Narrow" panose="020B0004020202020204" pitchFamily="34" charset="0"/>
                        </a:rPr>
                        <a:t>(Active/Inactive)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dirty="0">
                          <a:solidFill>
                            <a:srgbClr val="000000"/>
                          </a:solidFill>
                          <a:effectLst/>
                          <a:latin typeface="Aptos Narrow" panose="020B0004020202020204" pitchFamily="34" charset="0"/>
                        </a:rPr>
                        <a:t>0.5820313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0.57143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a:solidFill>
                            <a:srgbClr val="000000"/>
                          </a:solidFill>
                          <a:effectLst/>
                          <a:latin typeface="Aptos Narrow" panose="020B0004020202020204" pitchFamily="34" charset="0"/>
                        </a:rPr>
                        <a:t>0.52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tc>
                  <a:txBody>
                    <a:bodyPr/>
                    <a:lstStyle/>
                    <a:p>
                      <a:pPr algn="ctr" fontAlgn="b">
                        <a:buNone/>
                      </a:pPr>
                      <a:r>
                        <a:rPr lang="en-IN" sz="1100" b="1" i="0" u="none" strike="noStrike" dirty="0">
                          <a:solidFill>
                            <a:srgbClr val="000000"/>
                          </a:solidFill>
                          <a:effectLst/>
                          <a:latin typeface="Aptos Narrow" panose="020B0004020202020204" pitchFamily="34" charset="0"/>
                        </a:rPr>
                        <a:t>0.564516129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EEF"/>
                    </a:solidFill>
                  </a:tcPr>
                </a:tc>
                <a:extLst>
                  <a:ext uri="{0D108BD9-81ED-4DB2-BD59-A6C34878D82A}">
                    <a16:rowId xmlns:a16="http://schemas.microsoft.com/office/drawing/2014/main" val="833608370"/>
                  </a:ext>
                </a:extLst>
              </a:tr>
            </a:tbl>
          </a:graphicData>
        </a:graphic>
      </p:graphicFrame>
      <p:graphicFrame>
        <p:nvGraphicFramePr>
          <p:cNvPr id="8" name="Chart 7">
            <a:extLst>
              <a:ext uri="{FF2B5EF4-FFF2-40B4-BE49-F238E27FC236}">
                <a16:creationId xmlns:a16="http://schemas.microsoft.com/office/drawing/2014/main" id="{C443BD59-DFA7-CCEF-972D-E758E07C8B13}"/>
              </a:ext>
            </a:extLst>
          </p:cNvPr>
          <p:cNvGraphicFramePr>
            <a:graphicFrameLocks/>
          </p:cNvGraphicFramePr>
          <p:nvPr>
            <p:extLst>
              <p:ext uri="{D42A27DB-BD31-4B8C-83A1-F6EECF244321}">
                <p14:modId xmlns:p14="http://schemas.microsoft.com/office/powerpoint/2010/main" val="25222133"/>
              </p:ext>
            </p:extLst>
          </p:nvPr>
        </p:nvGraphicFramePr>
        <p:xfrm>
          <a:off x="4119031" y="2606749"/>
          <a:ext cx="4734192" cy="241141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2431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4E2E4963-4786-24F9-592F-15E89289D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3B1581-9B71-51D6-E7FF-29BFE4C9BD95}"/>
              </a:ext>
            </a:extLst>
          </p:cNvPr>
          <p:cNvSpPr>
            <a:spLocks noGrp="1"/>
          </p:cNvSpPr>
          <p:nvPr>
            <p:ph type="title"/>
          </p:nvPr>
        </p:nvSpPr>
        <p:spPr>
          <a:xfrm>
            <a:off x="1507067" y="0"/>
            <a:ext cx="6554867" cy="1524000"/>
          </a:xfrm>
        </p:spPr>
        <p:txBody>
          <a:bodyPr/>
          <a:lstStyle/>
          <a:p>
            <a:r>
              <a:rPr dirty="0">
                <a:solidFill>
                  <a:schemeClr val="accent6"/>
                </a:solidFill>
              </a:rPr>
              <a:t>Churn Prediction </a:t>
            </a:r>
            <a:r>
              <a:rPr lang="en-IN" dirty="0">
                <a:solidFill>
                  <a:schemeClr val="accent6"/>
                </a:solidFill>
              </a:rPr>
              <a:t>&amp; ANALYSIS</a:t>
            </a:r>
            <a:endParaRPr dirty="0">
              <a:solidFill>
                <a:schemeClr val="accent6"/>
              </a:solidFill>
            </a:endParaRPr>
          </a:p>
        </p:txBody>
      </p:sp>
      <p:sp>
        <p:nvSpPr>
          <p:cNvPr id="3" name="Content Placeholder 2">
            <a:extLst>
              <a:ext uri="{FF2B5EF4-FFF2-40B4-BE49-F238E27FC236}">
                <a16:creationId xmlns:a16="http://schemas.microsoft.com/office/drawing/2014/main" id="{2470E431-8877-4BF8-A951-641993953879}"/>
              </a:ext>
            </a:extLst>
          </p:cNvPr>
          <p:cNvSpPr>
            <a:spLocks noGrp="1"/>
          </p:cNvSpPr>
          <p:nvPr>
            <p:ph idx="1"/>
          </p:nvPr>
        </p:nvSpPr>
        <p:spPr>
          <a:xfrm>
            <a:off x="397930" y="-8466"/>
            <a:ext cx="7975599" cy="3767670"/>
          </a:xfrm>
        </p:spPr>
        <p:txBody>
          <a:bodyPr/>
          <a:lstStyle/>
          <a:p>
            <a:pPr marL="0" indent="0" algn="ctr">
              <a:buNone/>
            </a:pPr>
            <a:r>
              <a:rPr lang="en-US" dirty="0">
                <a:latin typeface="Cambria" panose="02040503050406030204" pitchFamily="18" charset="0"/>
                <a:ea typeface="Cambria" panose="02040503050406030204" pitchFamily="18" charset="0"/>
              </a:rPr>
              <a:t>Problem Statement -8</a:t>
            </a:r>
          </a:p>
          <a:p>
            <a:pPr marL="0" indent="0" algn="ctr">
              <a:buNone/>
            </a:pPr>
            <a:r>
              <a:rPr lang="en-US" dirty="0">
                <a:latin typeface="Cambria" panose="02040503050406030204" pitchFamily="18" charset="0"/>
                <a:ea typeface="Cambria" panose="02040503050406030204" pitchFamily="18" charset="0"/>
              </a:rPr>
              <a:t>To find out salary bar  which has observed highest churn.</a:t>
            </a:r>
          </a:p>
          <a:p>
            <a:pPr marL="0" indent="0" algn="ctr">
              <a:buNone/>
            </a:pPr>
            <a:endParaRPr dirty="0"/>
          </a:p>
        </p:txBody>
      </p:sp>
      <p:sp>
        <p:nvSpPr>
          <p:cNvPr id="17" name="Rectangle 16">
            <a:extLst>
              <a:ext uri="{FF2B5EF4-FFF2-40B4-BE49-F238E27FC236}">
                <a16:creationId xmlns:a16="http://schemas.microsoft.com/office/drawing/2014/main" id="{730A5E60-6AEA-A020-5491-B88B5405D2D9}"/>
              </a:ext>
            </a:extLst>
          </p:cNvPr>
          <p:cNvSpPr/>
          <p:nvPr/>
        </p:nvSpPr>
        <p:spPr>
          <a:xfrm>
            <a:off x="1397001" y="5891104"/>
            <a:ext cx="6400800" cy="67056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Ans: Highest churn observed is for the customers having salary bar 150000-200000 having a tenure of 6 years.</a:t>
            </a:r>
            <a:endParaRPr lang="en-IN" dirty="0"/>
          </a:p>
        </p:txBody>
      </p:sp>
      <p:graphicFrame>
        <p:nvGraphicFramePr>
          <p:cNvPr id="4" name="Chart 3">
            <a:extLst>
              <a:ext uri="{FF2B5EF4-FFF2-40B4-BE49-F238E27FC236}">
                <a16:creationId xmlns:a16="http://schemas.microsoft.com/office/drawing/2014/main" id="{4461651B-4615-2CD1-219C-DB9F77A4DE01}"/>
              </a:ext>
            </a:extLst>
          </p:cNvPr>
          <p:cNvGraphicFramePr>
            <a:graphicFrameLocks/>
          </p:cNvGraphicFramePr>
          <p:nvPr>
            <p:extLst>
              <p:ext uri="{D42A27DB-BD31-4B8C-83A1-F6EECF244321}">
                <p14:modId xmlns:p14="http://schemas.microsoft.com/office/powerpoint/2010/main" val="2898285929"/>
              </p:ext>
            </p:extLst>
          </p:nvPr>
        </p:nvGraphicFramePr>
        <p:xfrm>
          <a:off x="732368" y="2121534"/>
          <a:ext cx="7730066" cy="347853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52951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32467" y="152400"/>
            <a:ext cx="6554867" cy="1524000"/>
          </a:xfrm>
        </p:spPr>
        <p:txBody>
          <a:bodyPr/>
          <a:lstStyle/>
          <a:p>
            <a:r>
              <a:rPr dirty="0">
                <a:solidFill>
                  <a:schemeClr val="accent6"/>
                </a:solidFill>
              </a:rPr>
              <a:t>Strategies to Reduce Churn</a:t>
            </a:r>
          </a:p>
        </p:txBody>
      </p:sp>
      <p:sp>
        <p:nvSpPr>
          <p:cNvPr id="3" name="Content Placeholder 2"/>
          <p:cNvSpPr>
            <a:spLocks noGrp="1"/>
          </p:cNvSpPr>
          <p:nvPr>
            <p:ph idx="1"/>
          </p:nvPr>
        </p:nvSpPr>
        <p:spPr>
          <a:xfrm>
            <a:off x="211667" y="1303867"/>
            <a:ext cx="8077200" cy="5105400"/>
          </a:xfrm>
        </p:spPr>
        <p:txBody>
          <a:bodyPr>
            <a:normAutofit/>
          </a:bodyPr>
          <a:lstStyle/>
          <a:p>
            <a:pPr algn="just"/>
            <a:r>
              <a:rPr dirty="0"/>
              <a:t> </a:t>
            </a:r>
            <a:r>
              <a:rPr dirty="0">
                <a:solidFill>
                  <a:schemeClr val="accent6"/>
                </a:solidFill>
              </a:rPr>
              <a:t>Personalization &amp; support</a:t>
            </a:r>
            <a:endParaRPr lang="en-IN" dirty="0">
              <a:solidFill>
                <a:schemeClr val="accent6"/>
              </a:solidFill>
            </a:endParaRPr>
          </a:p>
          <a:p>
            <a:pPr marL="0" indent="0" algn="just">
              <a:buNone/>
            </a:pPr>
            <a:r>
              <a:rPr lang="en-US" dirty="0"/>
              <a:t>	Use customer data to tailor services</a:t>
            </a:r>
          </a:p>
          <a:p>
            <a:pPr marL="0" indent="0" algn="just">
              <a:buNone/>
            </a:pPr>
            <a:r>
              <a:rPr lang="en-US" dirty="0"/>
              <a:t> 	Example: 1)Recommended financial products based on 					history.</a:t>
            </a:r>
          </a:p>
          <a:p>
            <a:pPr marL="0" indent="0" algn="just">
              <a:buNone/>
            </a:pPr>
            <a:r>
              <a:rPr lang="en-IN" dirty="0"/>
              <a:t>                       2)</a:t>
            </a:r>
            <a:r>
              <a:rPr lang="en-US" dirty="0"/>
              <a:t>Priority support</a:t>
            </a:r>
          </a:p>
          <a:p>
            <a:pPr marL="0" indent="0" algn="just">
              <a:buNone/>
            </a:pPr>
            <a:r>
              <a:rPr lang="en-US" dirty="0"/>
              <a:t>                       3) Fee waivers</a:t>
            </a:r>
            <a:endParaRPr dirty="0"/>
          </a:p>
          <a:p>
            <a:pPr algn="just"/>
            <a:r>
              <a:rPr dirty="0"/>
              <a:t> </a:t>
            </a:r>
            <a:r>
              <a:rPr dirty="0">
                <a:solidFill>
                  <a:schemeClr val="accent6"/>
                </a:solidFill>
              </a:rPr>
              <a:t>Loyalty rewards</a:t>
            </a:r>
            <a:r>
              <a:rPr lang="en-US" dirty="0">
                <a:solidFill>
                  <a:schemeClr val="accent6"/>
                </a:solidFill>
              </a:rPr>
              <a:t>: </a:t>
            </a:r>
            <a:r>
              <a:rPr lang="en-US" dirty="0"/>
              <a:t>Coupons etc.</a:t>
            </a:r>
          </a:p>
          <a:p>
            <a:pPr algn="just"/>
            <a:r>
              <a:rPr dirty="0">
                <a:solidFill>
                  <a:schemeClr val="accent6"/>
                </a:solidFill>
              </a:rPr>
              <a:t>Improved digital services</a:t>
            </a:r>
            <a:r>
              <a:rPr lang="en-IN" dirty="0">
                <a:solidFill>
                  <a:schemeClr val="accent6"/>
                </a:solidFill>
              </a:rPr>
              <a:t>:</a:t>
            </a:r>
            <a:r>
              <a:rPr lang="en-US" dirty="0"/>
              <a:t> Faster issue resolution improves     </a:t>
            </a:r>
          </a:p>
          <a:p>
            <a:pPr marL="457200" lvl="1" indent="0">
              <a:buNone/>
            </a:pPr>
            <a:r>
              <a:rPr lang="en-US" dirty="0"/>
              <a:t>Retention </a:t>
            </a:r>
            <a:r>
              <a:rPr lang="en-US" dirty="0" err="1"/>
              <a:t>Eg.</a:t>
            </a:r>
            <a:r>
              <a:rPr lang="en-US" dirty="0"/>
              <a:t> Improved Mobile apps, AI bots, real-time support.</a:t>
            </a:r>
            <a:endParaRPr lang="en-IN" dirty="0">
              <a:solidFill>
                <a:schemeClr val="accent6"/>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9933" y="338667"/>
            <a:ext cx="6554867" cy="1524000"/>
          </a:xfrm>
        </p:spPr>
        <p:txBody>
          <a:bodyPr/>
          <a:lstStyle/>
          <a:p>
            <a:pPr algn="ctr"/>
            <a:r>
              <a:rPr dirty="0">
                <a:solidFill>
                  <a:schemeClr val="accent6"/>
                </a:solidFill>
              </a:rPr>
              <a:t>Conclusion</a:t>
            </a:r>
          </a:p>
        </p:txBody>
      </p:sp>
      <p:sp>
        <p:nvSpPr>
          <p:cNvPr id="3" name="Content Placeholder 2"/>
          <p:cNvSpPr>
            <a:spLocks noGrp="1"/>
          </p:cNvSpPr>
          <p:nvPr>
            <p:ph idx="1"/>
          </p:nvPr>
        </p:nvSpPr>
        <p:spPr>
          <a:xfrm>
            <a:off x="313267" y="2311400"/>
            <a:ext cx="7890933" cy="1439333"/>
          </a:xfrm>
        </p:spPr>
        <p:txBody>
          <a:bodyPr/>
          <a:lstStyle/>
          <a:p>
            <a:r>
              <a:rPr dirty="0"/>
              <a:t>Churn is costly but predictable</a:t>
            </a:r>
            <a:r>
              <a:rPr lang="en-IN" dirty="0"/>
              <a:t>.</a:t>
            </a:r>
            <a:endParaRPr dirty="0"/>
          </a:p>
          <a:p>
            <a:r>
              <a:rPr dirty="0"/>
              <a:t> Data-driven strategies help retention</a:t>
            </a:r>
            <a:r>
              <a:rPr lang="en-IN" dirty="0"/>
              <a:t>.</a:t>
            </a:r>
            <a:endParaRPr dirty="0"/>
          </a:p>
          <a:p>
            <a:r>
              <a:rPr dirty="0"/>
              <a:t> Focus on customer experience is key</a:t>
            </a:r>
            <a:r>
              <a:rPr lang="en-IN" dirty="0"/>
              <a:t>.</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accent2">
                <a:lumMod val="20000"/>
                <a:lumOff val="80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37B28E4F-D8E5-F7EE-CC56-1477C4FD3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15EC3-B335-A24B-1CF8-3AA893B102DB}"/>
              </a:ext>
            </a:extLst>
          </p:cNvPr>
          <p:cNvSpPr>
            <a:spLocks noGrp="1"/>
          </p:cNvSpPr>
          <p:nvPr>
            <p:ph type="title"/>
          </p:nvPr>
        </p:nvSpPr>
        <p:spPr>
          <a:xfrm>
            <a:off x="1159933" y="338667"/>
            <a:ext cx="6554867" cy="5190066"/>
          </a:xfrm>
        </p:spPr>
        <p:txBody>
          <a:bodyPr>
            <a:normAutofit/>
          </a:bodyPr>
          <a:lstStyle/>
          <a:p>
            <a:pPr algn="ctr"/>
            <a:r>
              <a:rPr lang="en-US" sz="8000" dirty="0">
                <a:solidFill>
                  <a:schemeClr val="accent6"/>
                </a:solidFill>
              </a:rPr>
              <a:t>THANK YOU</a:t>
            </a:r>
            <a:endParaRPr sz="8000" dirty="0">
              <a:solidFill>
                <a:schemeClr val="accent6"/>
              </a:solidFill>
            </a:endParaRPr>
          </a:p>
        </p:txBody>
      </p:sp>
    </p:spTree>
    <p:extLst>
      <p:ext uri="{BB962C8B-B14F-4D97-AF65-F5344CB8AC3E}">
        <p14:creationId xmlns:p14="http://schemas.microsoft.com/office/powerpoint/2010/main" val="1408957692"/>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602</TotalTime>
  <Words>987</Words>
  <Application>Microsoft Office PowerPoint</Application>
  <PresentationFormat>On-screen Show (4:3)</PresentationFormat>
  <Paragraphs>308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 Narrow</vt:lpstr>
      <vt:lpstr>Cambria</vt:lpstr>
      <vt:lpstr>Cambria Math</vt:lpstr>
      <vt:lpstr>Century Gothic</vt:lpstr>
      <vt:lpstr>Wingdings 3</vt:lpstr>
      <vt:lpstr>Slice</vt:lpstr>
      <vt:lpstr>CUSTOMER CHURNS IN BANKS Causes, Impacts, and Solutions </vt:lpstr>
      <vt:lpstr>Objectives of study</vt:lpstr>
      <vt:lpstr>What is Customer Churn?</vt:lpstr>
      <vt:lpstr>Causes of Customer Churn</vt:lpstr>
      <vt:lpstr>Studying Customer Behavior Trends</vt:lpstr>
      <vt:lpstr>Impact on Banks</vt:lpstr>
      <vt:lpstr>Case Study: XYZ Bank</vt:lpstr>
      <vt:lpstr>Analysis Dashboard </vt:lpstr>
      <vt:lpstr>Churn Prediction &amp; ANALYSIS</vt:lpstr>
      <vt:lpstr>Churn Prediction &amp; ANALYSIS</vt:lpstr>
      <vt:lpstr>Churn Prediction &amp; ANALYSIS</vt:lpstr>
      <vt:lpstr>Churn Prediction &amp; ANALYSIS</vt:lpstr>
      <vt:lpstr>Churn Prediction &amp; ANALYSIS</vt:lpstr>
      <vt:lpstr>Churn Prediction &amp; ANALYSIS</vt:lpstr>
      <vt:lpstr>Churn Prediction &amp; ANALYSIS</vt:lpstr>
      <vt:lpstr>Churn Prediction &amp; ANALYSIS</vt:lpstr>
      <vt:lpstr>Strategies to Reduce Churn</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FALGUNI FADNIS</cp:lastModifiedBy>
  <cp:revision>24</cp:revision>
  <dcterms:created xsi:type="dcterms:W3CDTF">2013-01-27T09:14:16Z</dcterms:created>
  <dcterms:modified xsi:type="dcterms:W3CDTF">2025-08-09T09:16:38Z</dcterms:modified>
  <cp:category/>
</cp:coreProperties>
</file>